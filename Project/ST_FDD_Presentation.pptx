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71"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125" d="100"/>
          <a:sy n="125" d="100"/>
        </p:scale>
        <p:origin x="708" y="9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029700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Welcome. Today I present our work on making Federated Learning resilient to slow clients — stragglers — using erasure coding. No Straggler Left Behind: every client's data contributes, no matter how slow they are.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Four common strategies all make a tradeoff between speed and data coverage. Our erasure coded approach is the only one that avoids this tradeoff entirely.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This is the actual framework diagram from the paper. Three client groups visible: straggler clients on the left miss their deadline and send MISS. Systematic clients in the middle send normal updates. Parity clients on the right send coded updates covering two partitions. FedAvg aggregation at the server uses only the 7 on-time responses — and still reconstructs the full global update.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min] The math is clean. Parity client j trains two models from the same global initialization — one on its primary data, one on the backup straggler's data. It takes a weighted average proportional to dataset sizes. Three key properties: same communication cost, no server changes, no inter-client coordination.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Flower framework, FashionMNIST with non-IID shard partition — each client gets 2 of 10 class shards. Two-layer CNN with SGD. Two scales. Straggler delays injected with time.sleep.</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min] Looking at convergence. Top row: all 5 strategies over 5 rounds. Bottom row: 10-node vs 100-node comparison. Our erasure coded approach tracks the baseline closely — 47.7% vs 49.8%, within 2.1 percentage points. Partial participation shows clear non-IID drift. Async never gets off the ground.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The four-panel figure from the paper. Top-left: accuracy — our approach second only to baseline. Top-right: straggler delay — comparable to baseline. Bottom-left: communication cost — identical to baseline at 4.23 MB. Bottom-right: accuracy vs training time scatter — erasure coded lands in the sweet spot.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Overhead breakdown. Two things dominate: straggler delay at 50.3% — unavoidable with synchronous FL — and centralized evaluation at 38.8%, which is entirely optional overhead we added for measurement. The actual ML compute — forward pass, backward pass — is just 9% combined.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Summary table. Erasure coded is the only strategy that achieves: near-baseline accuracy, moderate delay, baseline communication cost, and zero data loss. It strictly dominates partial, deadline, and async on coverage. It trades a tiny 2.1pp accuracy versus baseline — in exchange for tolerating 3 simultaneous stragglers.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Four honest limitations. Simulated delays don't capture real-world unpredictability. Fixed straggler set is a strong assumption. 100-node accuracy gap needs more rounds. CPU measurement is a simulation artifact.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Six future directions. Most important: real hardware deployment and dynamic straggler assignment — these would make the system production-ready. Differential privacy integration is a natural pairing that would complete the FL security story.</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Five takeaways. The fundamental result: erasure coding removes the accuracy-speed tradeoff. No extra bandwidth. No server changes. Bottleneck is waiting not computing. And near-optimal accuracy.</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Thank you. Happy to take questions. The key result: erasure coding is a practical, drop-in solution for straggler tolerance — no accuracy tradeoff, no extra communication, no server changes.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4114800"/>
            <a:ext cx="9144000" cy="1028700"/>
          </a:xfrm>
          <a:prstGeom prst="rect">
            <a:avLst/>
          </a:prstGeom>
          <a:solidFill>
            <a:srgbClr val="1565C0"/>
          </a:solidFill>
          <a:ln/>
        </p:spPr>
      </p:sp>
      <p:sp>
        <p:nvSpPr>
          <p:cNvPr id="3" name="Shape 1"/>
          <p:cNvSpPr/>
          <p:nvPr/>
        </p:nvSpPr>
        <p:spPr>
          <a:xfrm>
            <a:off x="6583680" y="-1097280"/>
            <a:ext cx="4572000" cy="4572000"/>
          </a:xfrm>
          <a:prstGeom prst="ellipse">
            <a:avLst/>
          </a:prstGeom>
          <a:solidFill>
            <a:srgbClr val="1A3A5C"/>
          </a:solidFill>
          <a:ln w="12700">
            <a:solidFill>
              <a:srgbClr val="1A3A5C"/>
            </a:solidFill>
            <a:prstDash val="solid"/>
          </a:ln>
        </p:spPr>
      </p:sp>
      <p:sp>
        <p:nvSpPr>
          <p:cNvPr id="4" name="Text 2"/>
          <p:cNvSpPr/>
          <p:nvPr/>
        </p:nvSpPr>
        <p:spPr>
          <a:xfrm>
            <a:off x="457200" y="640080"/>
            <a:ext cx="8229600" cy="1371600"/>
          </a:xfrm>
          <a:prstGeom prst="rect">
            <a:avLst/>
          </a:prstGeom>
          <a:noFill/>
          <a:ln/>
        </p:spPr>
        <p:txBody>
          <a:bodyPr wrap="square" rtlCol="0" anchor="ctr"/>
          <a:lstStyle/>
          <a:p>
            <a:r>
              <a:rPr lang="en-US" sz="2500" b="1" dirty="0">
                <a:solidFill>
                  <a:schemeClr val="bg1"/>
                </a:solidFill>
              </a:rPr>
              <a:t>Straggler-Tolerant Federated Learning via</a:t>
            </a:r>
          </a:p>
          <a:p>
            <a:r>
              <a:rPr lang="en-US" sz="2500" b="1" dirty="0">
                <a:solidFill>
                  <a:schemeClr val="bg1"/>
                </a:solidFill>
              </a:rPr>
              <a:t>Systematic Erasure Coding</a:t>
            </a:r>
          </a:p>
        </p:txBody>
      </p:sp>
      <p:sp>
        <p:nvSpPr>
          <p:cNvPr id="5" name="Text 3"/>
          <p:cNvSpPr/>
          <p:nvPr/>
        </p:nvSpPr>
        <p:spPr>
          <a:xfrm>
            <a:off x="457200" y="2103120"/>
            <a:ext cx="7315200" cy="640080"/>
          </a:xfrm>
          <a:prstGeom prst="rect">
            <a:avLst/>
          </a:prstGeom>
          <a:noFill/>
          <a:ln/>
        </p:spPr>
        <p:txBody>
          <a:bodyPr wrap="square" rtlCol="0" anchor="ctr"/>
          <a:lstStyle/>
          <a:p>
            <a:pPr marL="0" indent="0" algn="l">
              <a:buNone/>
            </a:pPr>
            <a:r>
              <a:rPr lang="en-US" sz="1900" i="1" dirty="0">
                <a:solidFill>
                  <a:srgbClr val="A8D8EA"/>
                </a:solidFill>
                <a:latin typeface="Calibri" pitchFamily="34" charset="0"/>
                <a:ea typeface="Calibri" pitchFamily="34" charset="-122"/>
                <a:cs typeface="Calibri" pitchFamily="34" charset="-120"/>
              </a:rPr>
              <a:t>Erasure Coding for Fault-Tolerant Federated Learning</a:t>
            </a:r>
            <a:endParaRPr lang="en-US" sz="1900" dirty="0"/>
          </a:p>
        </p:txBody>
      </p:sp>
      <p:sp>
        <p:nvSpPr>
          <p:cNvPr id="6" name="Shape 4"/>
          <p:cNvSpPr/>
          <p:nvPr/>
        </p:nvSpPr>
        <p:spPr>
          <a:xfrm>
            <a:off x="457200" y="2834640"/>
            <a:ext cx="4572000" cy="0"/>
          </a:xfrm>
          <a:prstGeom prst="line">
            <a:avLst/>
          </a:prstGeom>
          <a:noFill/>
          <a:ln w="25400">
            <a:solidFill>
              <a:srgbClr val="1565C0"/>
            </a:solidFill>
            <a:prstDash val="solid"/>
          </a:ln>
        </p:spPr>
      </p:sp>
      <p:sp>
        <p:nvSpPr>
          <p:cNvPr id="7" name="Text 5"/>
          <p:cNvSpPr/>
          <p:nvPr/>
        </p:nvSpPr>
        <p:spPr>
          <a:xfrm>
            <a:off x="457200" y="2971800"/>
            <a:ext cx="8229600" cy="384048"/>
          </a:xfrm>
          <a:prstGeom prst="rect">
            <a:avLst/>
          </a:prstGeom>
          <a:noFill/>
          <a:ln/>
        </p:spPr>
        <p:txBody>
          <a:bodyPr wrap="square" rtlCol="0" anchor="ctr"/>
          <a:lstStyle/>
          <a:p>
            <a:pPr marL="0" indent="0" algn="l">
              <a:buNone/>
            </a:pPr>
            <a:r>
              <a:rPr lang="en-US" sz="1400" dirty="0">
                <a:solidFill>
                  <a:srgbClr val="BBDEFB"/>
                </a:solidFill>
                <a:latin typeface="Calibri" pitchFamily="34" charset="0"/>
                <a:ea typeface="Calibri" pitchFamily="34" charset="-122"/>
                <a:cs typeface="Calibri" pitchFamily="34" charset="-120"/>
              </a:rPr>
              <a:t>Md Khairul Azman  ·  Mahfujur Rahman  ·  Dr. Tanzima Islam</a:t>
            </a:r>
            <a:endParaRPr lang="en-US" sz="1400" dirty="0"/>
          </a:p>
        </p:txBody>
      </p:sp>
      <p:sp>
        <p:nvSpPr>
          <p:cNvPr id="8" name="Text 6"/>
          <p:cNvSpPr/>
          <p:nvPr/>
        </p:nvSpPr>
        <p:spPr>
          <a:xfrm>
            <a:off x="457200" y="3364992"/>
            <a:ext cx="8229600" cy="347472"/>
          </a:xfrm>
          <a:prstGeom prst="rect">
            <a:avLst/>
          </a:prstGeom>
          <a:noFill/>
          <a:ln/>
        </p:spPr>
        <p:txBody>
          <a:bodyPr wrap="square" rtlCol="0" anchor="ctr"/>
          <a:lstStyle/>
          <a:p>
            <a:pPr marL="0" indent="0" algn="l">
              <a:buNone/>
            </a:pPr>
            <a:r>
              <a:rPr lang="en-US" sz="1300" dirty="0">
                <a:solidFill>
                  <a:srgbClr val="78909C"/>
                </a:solidFill>
                <a:latin typeface="Calibri" pitchFamily="34" charset="0"/>
                <a:ea typeface="Calibri" pitchFamily="34" charset="-122"/>
                <a:cs typeface="Calibri" pitchFamily="34" charset="-120"/>
              </a:rPr>
              <a:t>Department of Computer Science, </a:t>
            </a:r>
          </a:p>
          <a:p>
            <a:pPr marL="0" indent="0" algn="l">
              <a:buNone/>
            </a:pPr>
            <a:r>
              <a:rPr lang="en-US" sz="1300" dirty="0">
                <a:solidFill>
                  <a:srgbClr val="78909C"/>
                </a:solidFill>
                <a:latin typeface="Calibri" pitchFamily="34" charset="0"/>
                <a:ea typeface="Calibri" pitchFamily="34" charset="-122"/>
                <a:cs typeface="Calibri" pitchFamily="34" charset="-120"/>
              </a:rPr>
              <a:t>Texas State University</a:t>
            </a:r>
            <a:endParaRPr lang="en-US" sz="1300" dirty="0"/>
          </a:p>
        </p:txBody>
      </p:sp>
      <p:pic>
        <p:nvPicPr>
          <p:cNvPr id="9" name="Picture 8">
            <a:extLst>
              <a:ext uri="{FF2B5EF4-FFF2-40B4-BE49-F238E27FC236}">
                <a16:creationId xmlns:a16="http://schemas.microsoft.com/office/drawing/2014/main" id="{B2E0F596-9FE1-7D61-E43C-4A4689F13FCA}"/>
              </a:ext>
            </a:extLst>
          </p:cNvPr>
          <p:cNvPicPr>
            <a:picLocks noChangeAspect="1"/>
          </p:cNvPicPr>
          <p:nvPr/>
        </p:nvPicPr>
        <p:blipFill>
          <a:blip r:embed="rId3"/>
          <a:stretch>
            <a:fillRect/>
          </a:stretch>
        </p:blipFill>
        <p:spPr>
          <a:xfrm>
            <a:off x="6325398" y="2571750"/>
            <a:ext cx="1731224" cy="124587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658368"/>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0"/>
            <a:ext cx="8595360" cy="430887"/>
          </a:xfrm>
          <a:prstGeom prst="rect">
            <a:avLst/>
          </a:prstGeom>
          <a:noFill/>
        </p:spPr>
        <p:txBody>
          <a:bodyPr wrap="square">
            <a:spAutoFit/>
          </a:bodyPr>
          <a:lstStyle/>
          <a:p>
            <a:pPr algn="l"/>
            <a:r>
              <a:rPr sz="2200" b="1" i="0" dirty="0">
                <a:solidFill>
                  <a:srgbClr val="FFFFFF"/>
                </a:solidFill>
                <a:latin typeface="Calibri"/>
              </a:rPr>
              <a:t>Background: What Are We Building On?</a:t>
            </a:r>
            <a:r>
              <a:rPr lang="en-US" sz="2200" b="1" i="0" dirty="0">
                <a:solidFill>
                  <a:srgbClr val="FFFFFF"/>
                </a:solidFill>
                <a:latin typeface="Calibri"/>
              </a:rPr>
              <a:t> (Two Key Technologies)</a:t>
            </a:r>
            <a:endParaRPr sz="2200" b="1" i="0" dirty="0">
              <a:solidFill>
                <a:srgbClr val="FFFFFF"/>
              </a:solidFill>
              <a:latin typeface="Calibri"/>
            </a:endParaRPr>
          </a:p>
        </p:txBody>
      </p:sp>
      <p:sp>
        <p:nvSpPr>
          <p:cNvPr id="4" name="Rectangle 3"/>
          <p:cNvSpPr/>
          <p:nvPr/>
        </p:nvSpPr>
        <p:spPr>
          <a:xfrm>
            <a:off x="0" y="658368"/>
            <a:ext cx="9144000" cy="54864"/>
          </a:xfrm>
          <a:prstGeom prst="rect">
            <a:avLst/>
          </a:prstGeom>
          <a:solidFill>
            <a:srgbClr val="1BA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01168" y="1143000"/>
            <a:ext cx="4206240" cy="3886200"/>
          </a:xfrm>
          <a:prstGeom prst="rect">
            <a:avLst/>
          </a:prstGeom>
          <a:solidFill>
            <a:srgbClr val="132033"/>
          </a:solidFill>
          <a:ln w="19050">
            <a:solidFill>
              <a:srgbClr val="1BA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736592" y="1143000"/>
            <a:ext cx="4206240" cy="3886200"/>
          </a:xfrm>
          <a:prstGeom prst="rect">
            <a:avLst/>
          </a:prstGeom>
          <a:solidFill>
            <a:srgbClr val="132033"/>
          </a:solidFill>
          <a:ln w="19050">
            <a:solidFill>
              <a:srgbClr val="2EAA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image.png"/>
          <p:cNvPicPr>
            <a:picLocks noChangeAspect="1"/>
          </p:cNvPicPr>
          <p:nvPr/>
        </p:nvPicPr>
        <p:blipFill>
          <a:blip r:embed="rId2"/>
          <a:stretch>
            <a:fillRect/>
          </a:stretch>
        </p:blipFill>
        <p:spPr>
          <a:xfrm>
            <a:off x="292608" y="1234440"/>
            <a:ext cx="4023360" cy="2487168"/>
          </a:xfrm>
          <a:prstGeom prst="rect">
            <a:avLst/>
          </a:prstGeom>
        </p:spPr>
      </p:pic>
      <p:pic>
        <p:nvPicPr>
          <p:cNvPr id="9" name="Picture 8" descr="image.png"/>
          <p:cNvPicPr>
            <a:picLocks noChangeAspect="1"/>
          </p:cNvPicPr>
          <p:nvPr/>
        </p:nvPicPr>
        <p:blipFill>
          <a:blip r:embed="rId3"/>
          <a:stretch>
            <a:fillRect/>
          </a:stretch>
        </p:blipFill>
        <p:spPr>
          <a:xfrm>
            <a:off x="4846320" y="1197864"/>
            <a:ext cx="4023360" cy="2487168"/>
          </a:xfrm>
          <a:prstGeom prst="rect">
            <a:avLst/>
          </a:prstGeom>
        </p:spPr>
      </p:pic>
      <p:sp>
        <p:nvSpPr>
          <p:cNvPr id="10" name="Rectangle 9"/>
          <p:cNvSpPr/>
          <p:nvPr/>
        </p:nvSpPr>
        <p:spPr>
          <a:xfrm>
            <a:off x="201168" y="3749039"/>
            <a:ext cx="4206240" cy="1207008"/>
          </a:xfrm>
          <a:prstGeom prst="rect">
            <a:avLst/>
          </a:prstGeom>
          <a:solidFill>
            <a:srgbClr val="1B4F8A"/>
          </a:solidFill>
          <a:ln w="12700">
            <a:solidFill>
              <a:srgbClr val="1BA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92608" y="3785615"/>
            <a:ext cx="4023360" cy="384048"/>
          </a:xfrm>
          <a:prstGeom prst="rect">
            <a:avLst/>
          </a:prstGeom>
          <a:noFill/>
        </p:spPr>
        <p:txBody>
          <a:bodyPr wrap="square">
            <a:spAutoFit/>
          </a:bodyPr>
          <a:lstStyle/>
          <a:p>
            <a:pPr algn="ctr"/>
            <a:r>
              <a:rPr sz="1300" b="1" i="0">
                <a:solidFill>
                  <a:srgbClr val="FFFFFF"/>
                </a:solidFill>
                <a:latin typeface="Calibri"/>
              </a:rPr>
              <a:t>Federated Learning (FL)</a:t>
            </a:r>
          </a:p>
        </p:txBody>
      </p:sp>
      <p:sp>
        <p:nvSpPr>
          <p:cNvPr id="12" name="TextBox 11"/>
          <p:cNvSpPr txBox="1"/>
          <p:nvPr/>
        </p:nvSpPr>
        <p:spPr>
          <a:xfrm>
            <a:off x="329184" y="4178808"/>
            <a:ext cx="3931920" cy="713232"/>
          </a:xfrm>
          <a:prstGeom prst="rect">
            <a:avLst/>
          </a:prstGeom>
          <a:noFill/>
        </p:spPr>
        <p:txBody>
          <a:bodyPr wrap="square">
            <a:spAutoFit/>
          </a:bodyPr>
          <a:lstStyle/>
          <a:p>
            <a:pPr algn="l"/>
            <a:r>
              <a:rPr sz="1050" b="0" i="0">
                <a:solidFill>
                  <a:srgbClr val="BCC5D6"/>
                </a:solidFill>
                <a:latin typeface="Calibri"/>
              </a:rPr>
              <a:t>N clients train locally on private data. A central server aggregates updates via FedAvg — raw data never moves off-device.</a:t>
            </a:r>
          </a:p>
        </p:txBody>
      </p:sp>
      <p:sp>
        <p:nvSpPr>
          <p:cNvPr id="13" name="Rectangle 12"/>
          <p:cNvSpPr/>
          <p:nvPr/>
        </p:nvSpPr>
        <p:spPr>
          <a:xfrm>
            <a:off x="4736592" y="3749039"/>
            <a:ext cx="4206240" cy="1207008"/>
          </a:xfrm>
          <a:prstGeom prst="rect">
            <a:avLst/>
          </a:prstGeom>
          <a:solidFill>
            <a:srgbClr val="0D3020"/>
          </a:solidFill>
          <a:ln w="12700">
            <a:solidFill>
              <a:srgbClr val="2EAA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828032" y="3785615"/>
            <a:ext cx="4023360" cy="384048"/>
          </a:xfrm>
          <a:prstGeom prst="rect">
            <a:avLst/>
          </a:prstGeom>
          <a:noFill/>
        </p:spPr>
        <p:txBody>
          <a:bodyPr wrap="square">
            <a:spAutoFit/>
          </a:bodyPr>
          <a:lstStyle/>
          <a:p>
            <a:pPr algn="ctr"/>
            <a:r>
              <a:rPr sz="1300" b="1" i="0">
                <a:solidFill>
                  <a:srgbClr val="FFFFFF"/>
                </a:solidFill>
                <a:latin typeface="Calibri"/>
              </a:rPr>
              <a:t>Flower (flwr) Framework</a:t>
            </a:r>
          </a:p>
        </p:txBody>
      </p:sp>
      <p:sp>
        <p:nvSpPr>
          <p:cNvPr id="15" name="TextBox 14"/>
          <p:cNvSpPr txBox="1"/>
          <p:nvPr/>
        </p:nvSpPr>
        <p:spPr>
          <a:xfrm>
            <a:off x="4864608" y="4178808"/>
            <a:ext cx="3931920" cy="713232"/>
          </a:xfrm>
          <a:prstGeom prst="rect">
            <a:avLst/>
          </a:prstGeom>
          <a:noFill/>
        </p:spPr>
        <p:txBody>
          <a:bodyPr wrap="square">
            <a:spAutoFit/>
          </a:bodyPr>
          <a:lstStyle/>
          <a:p>
            <a:pPr algn="l"/>
            <a:r>
              <a:rPr sz="1050" b="0" i="0" dirty="0">
                <a:solidFill>
                  <a:srgbClr val="BCC5D6"/>
                </a:solidFill>
                <a:latin typeface="Calibri"/>
              </a:rPr>
              <a:t>Open-source FL platform used in this project. Simulates 100+ virtual clients with non-IID data, custom strategies, and metrics tracking.</a:t>
            </a:r>
          </a:p>
        </p:txBody>
      </p:sp>
      <p:pic>
        <p:nvPicPr>
          <p:cNvPr id="1026" name="Picture 2" descr="What is Federated Learning? - GeeksforGeeks">
            <a:extLst>
              <a:ext uri="{FF2B5EF4-FFF2-40B4-BE49-F238E27FC236}">
                <a16:creationId xmlns:a16="http://schemas.microsoft.com/office/drawing/2014/main" id="{15EDD0E5-8C93-2B8D-ADD4-3D58171E421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0864" y="1143002"/>
            <a:ext cx="4005104" cy="2615183"/>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Introduction to FLOWER.. Building your own Federated Learning… | by Ankita  Sinha | Nerd For Tech | Medium">
            <a:extLst>
              <a:ext uri="{FF2B5EF4-FFF2-40B4-BE49-F238E27FC236}">
                <a16:creationId xmlns:a16="http://schemas.microsoft.com/office/drawing/2014/main" id="{AB2AB8A2-B742-6261-19BC-7D2B2EE64D0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27120" y="1116582"/>
            <a:ext cx="4225184" cy="257759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1B2A"/>
          </a:solidFill>
          <a:ln w="12700">
            <a:solidFill>
              <a:srgbClr val="0D1B2A"/>
            </a:solidFill>
            <a:prstDash val="solid"/>
          </a:ln>
        </p:spPr>
      </p:sp>
      <p:sp>
        <p:nvSpPr>
          <p:cNvPr id="3" name="Shape 1"/>
          <p:cNvSpPr/>
          <p:nvPr/>
        </p:nvSpPr>
        <p:spPr>
          <a:xfrm>
            <a:off x="0" y="658368"/>
            <a:ext cx="9144000" cy="54864"/>
          </a:xfrm>
          <a:prstGeom prst="rect">
            <a:avLst/>
          </a:prstGeom>
          <a:solidFill>
            <a:srgbClr val="1BA8C8"/>
          </a:solidFill>
          <a:ln w="12700">
            <a:solidFill>
              <a:srgbClr val="1BA8C8"/>
            </a:solidFill>
            <a:prstDash val="solid"/>
          </a:ln>
        </p:spPr>
      </p:sp>
      <p:sp>
        <p:nvSpPr>
          <p:cNvPr id="4" name="Text 2"/>
          <p:cNvSpPr/>
          <p:nvPr/>
        </p:nvSpPr>
        <p:spPr>
          <a:xfrm>
            <a:off x="274320" y="0"/>
            <a:ext cx="8595360" cy="65836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The Straggler Problem in Federated Learning</a:t>
            </a:r>
            <a:endParaRPr lang="en-US" sz="2200" dirty="0"/>
          </a:p>
        </p:txBody>
      </p:sp>
      <p:sp>
        <p:nvSpPr>
          <p:cNvPr id="5" name="Shape 3"/>
          <p:cNvSpPr/>
          <p:nvPr/>
        </p:nvSpPr>
        <p:spPr>
          <a:xfrm>
            <a:off x="0" y="0"/>
            <a:ext cx="9144000" cy="658368"/>
          </a:xfrm>
          <a:prstGeom prst="rect">
            <a:avLst/>
          </a:prstGeom>
          <a:solidFill>
            <a:srgbClr val="0D1B2A"/>
          </a:solidFill>
          <a:ln w="12700">
            <a:solidFill>
              <a:srgbClr val="0D1B2A"/>
            </a:solidFill>
            <a:prstDash val="solid"/>
          </a:ln>
        </p:spPr>
      </p:sp>
      <p:sp>
        <p:nvSpPr>
          <p:cNvPr id="6" name="Shape 4"/>
          <p:cNvSpPr/>
          <p:nvPr/>
        </p:nvSpPr>
        <p:spPr>
          <a:xfrm>
            <a:off x="0" y="658368"/>
            <a:ext cx="9144000" cy="54864"/>
          </a:xfrm>
          <a:prstGeom prst="rect">
            <a:avLst/>
          </a:prstGeom>
          <a:solidFill>
            <a:srgbClr val="1BA8C8"/>
          </a:solidFill>
          <a:ln w="12700">
            <a:solidFill>
              <a:srgbClr val="1BA8C8"/>
            </a:solidFill>
            <a:prstDash val="solid"/>
          </a:ln>
        </p:spPr>
      </p:sp>
      <p:sp>
        <p:nvSpPr>
          <p:cNvPr id="7" name="Text 5"/>
          <p:cNvSpPr/>
          <p:nvPr/>
        </p:nvSpPr>
        <p:spPr>
          <a:xfrm>
            <a:off x="274320" y="0"/>
            <a:ext cx="8595360" cy="65836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The Straggler Problem in Federated Learning</a:t>
            </a:r>
            <a:endParaRPr lang="en-US" sz="2200" dirty="0"/>
          </a:p>
        </p:txBody>
      </p:sp>
      <p:sp>
        <p:nvSpPr>
          <p:cNvPr id="8" name="Shape 6"/>
          <p:cNvSpPr/>
          <p:nvPr/>
        </p:nvSpPr>
        <p:spPr>
          <a:xfrm>
            <a:off x="274320" y="868680"/>
            <a:ext cx="4572000" cy="3931920"/>
          </a:xfrm>
          <a:prstGeom prst="rect">
            <a:avLst/>
          </a:prstGeom>
          <a:solidFill>
            <a:srgbClr val="FFFFFF"/>
          </a:solidFill>
          <a:ln w="12700">
            <a:solidFill>
              <a:srgbClr val="BCC5D6"/>
            </a:solidFill>
            <a:prstDash val="solid"/>
          </a:ln>
          <a:effectLst>
            <a:outerShdw blurRad="76200" dist="25400" dir="8100000" algn="bl" rotWithShape="0">
              <a:srgbClr val="000000">
                <a:alpha val="8000"/>
              </a:srgbClr>
            </a:outerShdw>
          </a:effectLst>
        </p:spPr>
      </p:sp>
      <p:sp>
        <p:nvSpPr>
          <p:cNvPr id="9" name="Text 7"/>
          <p:cNvSpPr/>
          <p:nvPr/>
        </p:nvSpPr>
        <p:spPr>
          <a:xfrm>
            <a:off x="457200" y="960120"/>
            <a:ext cx="4206240" cy="411480"/>
          </a:xfrm>
          <a:prstGeom prst="rect">
            <a:avLst/>
          </a:prstGeom>
          <a:noFill/>
          <a:ln/>
        </p:spPr>
        <p:txBody>
          <a:bodyPr wrap="square" rtlCol="0" anchor="ctr"/>
          <a:lstStyle/>
          <a:p>
            <a:pPr marL="0" indent="0">
              <a:buNone/>
            </a:pPr>
            <a:r>
              <a:rPr lang="en-US" sz="1500" b="1" dirty="0">
                <a:solidFill>
                  <a:srgbClr val="0D1B2A"/>
                </a:solidFill>
                <a:latin typeface="Calibri" pitchFamily="34" charset="0"/>
                <a:ea typeface="Calibri" pitchFamily="34" charset="-122"/>
                <a:cs typeface="Calibri" pitchFamily="34" charset="-120"/>
              </a:rPr>
              <a:t>What is a Straggler?</a:t>
            </a:r>
            <a:endParaRPr lang="en-US" sz="1500" dirty="0"/>
          </a:p>
        </p:txBody>
      </p:sp>
      <p:sp>
        <p:nvSpPr>
          <p:cNvPr id="10" name="Text 8"/>
          <p:cNvSpPr/>
          <p:nvPr/>
        </p:nvSpPr>
        <p:spPr>
          <a:xfrm>
            <a:off x="457200" y="1417320"/>
            <a:ext cx="4206240" cy="731520"/>
          </a:xfrm>
          <a:prstGeom prst="rect">
            <a:avLst/>
          </a:prstGeom>
          <a:noFill/>
          <a:ln/>
        </p:spPr>
        <p:txBody>
          <a:bodyPr wrap="square" rtlCol="0" anchor="ctr"/>
          <a:lstStyle/>
          <a:p>
            <a:pPr marL="0" indent="0">
              <a:buNone/>
            </a:pPr>
            <a:r>
              <a:rPr lang="en-US" sz="1300" dirty="0">
                <a:solidFill>
                  <a:srgbClr val="333333"/>
                </a:solidFill>
                <a:latin typeface="Calibri" pitchFamily="34" charset="0"/>
                <a:ea typeface="Calibri" pitchFamily="34" charset="-122"/>
                <a:cs typeface="Calibri" pitchFamily="34" charset="-120"/>
              </a:rPr>
              <a:t>In synchronous Federated Learning (FedAvg), the server must wait for </a:t>
            </a:r>
            <a:r>
              <a:rPr lang="en-US" sz="1300" b="1" dirty="0">
                <a:solidFill>
                  <a:srgbClr val="333333"/>
                </a:solidFill>
                <a:latin typeface="Calibri" pitchFamily="34" charset="0"/>
                <a:ea typeface="Calibri" pitchFamily="34" charset="-122"/>
                <a:cs typeface="Calibri" pitchFamily="34" charset="-120"/>
              </a:rPr>
              <a:t>all</a:t>
            </a:r>
            <a:r>
              <a:rPr lang="en-US" sz="1300" dirty="0">
                <a:solidFill>
                  <a:srgbClr val="333333"/>
                </a:solidFill>
                <a:latin typeface="Calibri" pitchFamily="34" charset="0"/>
                <a:ea typeface="Calibri" pitchFamily="34" charset="-122"/>
                <a:cs typeface="Calibri" pitchFamily="34" charset="-120"/>
              </a:rPr>
              <a:t> participating clients before advancing to the next round.</a:t>
            </a:r>
            <a:endParaRPr lang="en-US" sz="1300" dirty="0"/>
          </a:p>
        </p:txBody>
      </p:sp>
      <p:sp>
        <p:nvSpPr>
          <p:cNvPr id="11" name="Shape 9"/>
          <p:cNvSpPr/>
          <p:nvPr/>
        </p:nvSpPr>
        <p:spPr>
          <a:xfrm>
            <a:off x="457200" y="2331720"/>
            <a:ext cx="4206240" cy="475488"/>
          </a:xfrm>
          <a:prstGeom prst="rect">
            <a:avLst/>
          </a:prstGeom>
          <a:solidFill>
            <a:srgbClr val="EBF4FF"/>
          </a:solidFill>
          <a:ln w="12700">
            <a:solidFill>
              <a:srgbClr val="C5DEFF"/>
            </a:solidFill>
            <a:prstDash val="solid"/>
          </a:ln>
        </p:spPr>
      </p:sp>
      <p:sp>
        <p:nvSpPr>
          <p:cNvPr id="12" name="Text 10"/>
          <p:cNvSpPr/>
          <p:nvPr/>
        </p:nvSpPr>
        <p:spPr>
          <a:xfrm>
            <a:off x="548640" y="2350008"/>
            <a:ext cx="3931920" cy="438912"/>
          </a:xfrm>
          <a:prstGeom prst="rect">
            <a:avLst/>
          </a:prstGeom>
          <a:noFill/>
          <a:ln/>
        </p:spPr>
        <p:txBody>
          <a:bodyPr wrap="square" rtlCol="0" anchor="ctr"/>
          <a:lstStyle/>
          <a:p>
            <a:pPr marL="0" indent="0">
              <a:buNone/>
            </a:pPr>
            <a:r>
              <a:rPr lang="en-US" sz="1250" dirty="0">
                <a:solidFill>
                  <a:srgbClr val="0D1B2A"/>
                </a:solidFill>
                <a:latin typeface="Calibri" pitchFamily="34" charset="0"/>
                <a:ea typeface="Calibri" pitchFamily="34" charset="-122"/>
                <a:cs typeface="Calibri" pitchFamily="34" charset="-120"/>
              </a:rPr>
              <a:t>⚙  Hardware heterogeneity (slow CPUs/GPUs)</a:t>
            </a:r>
            <a:endParaRPr lang="en-US" sz="1250" dirty="0"/>
          </a:p>
        </p:txBody>
      </p:sp>
      <p:sp>
        <p:nvSpPr>
          <p:cNvPr id="13" name="Shape 11"/>
          <p:cNvSpPr/>
          <p:nvPr/>
        </p:nvSpPr>
        <p:spPr>
          <a:xfrm>
            <a:off x="457200" y="2898648"/>
            <a:ext cx="4206240" cy="475488"/>
          </a:xfrm>
          <a:prstGeom prst="rect">
            <a:avLst/>
          </a:prstGeom>
          <a:solidFill>
            <a:srgbClr val="EBF4FF"/>
          </a:solidFill>
          <a:ln w="12700">
            <a:solidFill>
              <a:srgbClr val="C5DEFF"/>
            </a:solidFill>
            <a:prstDash val="solid"/>
          </a:ln>
        </p:spPr>
      </p:sp>
      <p:sp>
        <p:nvSpPr>
          <p:cNvPr id="14" name="Text 12"/>
          <p:cNvSpPr/>
          <p:nvPr/>
        </p:nvSpPr>
        <p:spPr>
          <a:xfrm>
            <a:off x="548640" y="2916936"/>
            <a:ext cx="3931920" cy="438912"/>
          </a:xfrm>
          <a:prstGeom prst="rect">
            <a:avLst/>
          </a:prstGeom>
          <a:noFill/>
          <a:ln/>
        </p:spPr>
        <p:txBody>
          <a:bodyPr wrap="square" rtlCol="0" anchor="ctr"/>
          <a:lstStyle/>
          <a:p>
            <a:pPr marL="0" indent="0">
              <a:buNone/>
            </a:pPr>
            <a:r>
              <a:rPr lang="en-US" sz="1250" dirty="0">
                <a:solidFill>
                  <a:srgbClr val="0D1B2A"/>
                </a:solidFill>
                <a:latin typeface="Calibri" pitchFamily="34" charset="0"/>
                <a:ea typeface="Calibri" pitchFamily="34" charset="-122"/>
                <a:cs typeface="Calibri" pitchFamily="34" charset="-120"/>
              </a:rPr>
              <a:t>🌐  Network congestion &amp; packet loss</a:t>
            </a:r>
            <a:endParaRPr lang="en-US" sz="1250" dirty="0"/>
          </a:p>
        </p:txBody>
      </p:sp>
      <p:sp>
        <p:nvSpPr>
          <p:cNvPr id="15" name="Shape 13"/>
          <p:cNvSpPr/>
          <p:nvPr/>
        </p:nvSpPr>
        <p:spPr>
          <a:xfrm>
            <a:off x="457200" y="3465576"/>
            <a:ext cx="4206240" cy="475488"/>
          </a:xfrm>
          <a:prstGeom prst="rect">
            <a:avLst/>
          </a:prstGeom>
          <a:solidFill>
            <a:srgbClr val="EBF4FF"/>
          </a:solidFill>
          <a:ln w="12700">
            <a:solidFill>
              <a:srgbClr val="C5DEFF"/>
            </a:solidFill>
            <a:prstDash val="solid"/>
          </a:ln>
        </p:spPr>
      </p:sp>
      <p:sp>
        <p:nvSpPr>
          <p:cNvPr id="16" name="Text 14"/>
          <p:cNvSpPr/>
          <p:nvPr/>
        </p:nvSpPr>
        <p:spPr>
          <a:xfrm>
            <a:off x="548640" y="3483864"/>
            <a:ext cx="3931920" cy="438912"/>
          </a:xfrm>
          <a:prstGeom prst="rect">
            <a:avLst/>
          </a:prstGeom>
          <a:noFill/>
          <a:ln/>
        </p:spPr>
        <p:txBody>
          <a:bodyPr wrap="square" rtlCol="0" anchor="ctr"/>
          <a:lstStyle/>
          <a:p>
            <a:pPr marL="0" indent="0">
              <a:buNone/>
            </a:pPr>
            <a:r>
              <a:rPr lang="en-US" sz="1250" dirty="0">
                <a:solidFill>
                  <a:srgbClr val="0D1B2A"/>
                </a:solidFill>
                <a:latin typeface="Calibri" pitchFamily="34" charset="0"/>
                <a:ea typeface="Calibri" pitchFamily="34" charset="-122"/>
                <a:cs typeface="Calibri" pitchFamily="34" charset="-120"/>
              </a:rPr>
              <a:t>📱  Mobile device resource contention</a:t>
            </a:r>
            <a:endParaRPr lang="en-US" sz="1250" dirty="0"/>
          </a:p>
        </p:txBody>
      </p:sp>
      <p:sp>
        <p:nvSpPr>
          <p:cNvPr id="17" name="Shape 15"/>
          <p:cNvSpPr/>
          <p:nvPr/>
        </p:nvSpPr>
        <p:spPr>
          <a:xfrm>
            <a:off x="457200" y="4069080"/>
            <a:ext cx="4206240" cy="621792"/>
          </a:xfrm>
          <a:prstGeom prst="rect">
            <a:avLst/>
          </a:prstGeom>
          <a:solidFill>
            <a:srgbClr val="E87B35"/>
          </a:solidFill>
          <a:ln w="12700">
            <a:solidFill>
              <a:srgbClr val="E87B35"/>
            </a:solidFill>
            <a:prstDash val="solid"/>
          </a:ln>
        </p:spPr>
      </p:sp>
      <p:sp>
        <p:nvSpPr>
          <p:cNvPr id="18" name="Text 16"/>
          <p:cNvSpPr/>
          <p:nvPr/>
        </p:nvSpPr>
        <p:spPr>
          <a:xfrm>
            <a:off x="457200" y="4069080"/>
            <a:ext cx="4206240" cy="621792"/>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Round time ∝ worst-case client delay</a:t>
            </a:r>
            <a:endParaRPr lang="en-US" sz="1300" dirty="0"/>
          </a:p>
        </p:txBody>
      </p:sp>
      <p:sp>
        <p:nvSpPr>
          <p:cNvPr id="19" name="Shape 17"/>
          <p:cNvSpPr/>
          <p:nvPr/>
        </p:nvSpPr>
        <p:spPr>
          <a:xfrm>
            <a:off x="5212080" y="868680"/>
            <a:ext cx="3657600" cy="3931920"/>
          </a:xfrm>
          <a:prstGeom prst="rect">
            <a:avLst/>
          </a:prstGeom>
          <a:solidFill>
            <a:srgbClr val="FFFFFF"/>
          </a:solidFill>
          <a:ln w="12700">
            <a:solidFill>
              <a:srgbClr val="BCC5D6"/>
            </a:solidFill>
            <a:prstDash val="solid"/>
          </a:ln>
          <a:effectLst>
            <a:outerShdw blurRad="76200" dist="25400" dir="8100000" algn="bl" rotWithShape="0">
              <a:srgbClr val="000000">
                <a:alpha val="8000"/>
              </a:srgbClr>
            </a:outerShdw>
          </a:effectLst>
        </p:spPr>
      </p:sp>
      <p:sp>
        <p:nvSpPr>
          <p:cNvPr id="20" name="Text 18"/>
          <p:cNvSpPr/>
          <p:nvPr/>
        </p:nvSpPr>
        <p:spPr>
          <a:xfrm>
            <a:off x="5349240" y="960120"/>
            <a:ext cx="3383280" cy="365760"/>
          </a:xfrm>
          <a:prstGeom prst="rect">
            <a:avLst/>
          </a:prstGeom>
          <a:noFill/>
          <a:ln/>
        </p:spPr>
        <p:txBody>
          <a:bodyPr wrap="square" rtlCol="0" anchor="ctr"/>
          <a:lstStyle/>
          <a:p>
            <a:pPr marL="0" indent="0">
              <a:buNone/>
            </a:pPr>
            <a:r>
              <a:rPr lang="en-US" sz="1400" b="1" dirty="0">
                <a:solidFill>
                  <a:srgbClr val="0D1B2A"/>
                </a:solidFill>
                <a:latin typeface="Calibri" pitchFamily="34" charset="0"/>
                <a:ea typeface="Calibri" pitchFamily="34" charset="-122"/>
                <a:cs typeface="Calibri" pitchFamily="34" charset="-120"/>
              </a:rPr>
              <a:t>FedAvg Round Timeline</a:t>
            </a:r>
            <a:endParaRPr lang="en-US" sz="1400" dirty="0"/>
          </a:p>
        </p:txBody>
      </p:sp>
      <p:sp>
        <p:nvSpPr>
          <p:cNvPr id="21" name="Text 19"/>
          <p:cNvSpPr/>
          <p:nvPr/>
        </p:nvSpPr>
        <p:spPr>
          <a:xfrm>
            <a:off x="5349240" y="1463040"/>
            <a:ext cx="1920240" cy="320040"/>
          </a:xfrm>
          <a:prstGeom prst="rect">
            <a:avLst/>
          </a:prstGeom>
          <a:noFill/>
          <a:ln/>
        </p:spPr>
        <p:txBody>
          <a:bodyPr wrap="square" rtlCol="0" anchor="ctr"/>
          <a:lstStyle/>
          <a:p>
            <a:pPr marL="0" indent="0">
              <a:buNone/>
            </a:pPr>
            <a:r>
              <a:rPr lang="en-US" sz="1050" dirty="0">
                <a:solidFill>
                  <a:srgbClr val="444444"/>
                </a:solidFill>
                <a:latin typeface="Calibri" pitchFamily="34" charset="0"/>
                <a:ea typeface="Calibri" pitchFamily="34" charset="-122"/>
                <a:cs typeface="Calibri" pitchFamily="34" charset="-120"/>
              </a:rPr>
              <a:t>Client 0 (Straggler)</a:t>
            </a:r>
            <a:endParaRPr lang="en-US" sz="1050" dirty="0"/>
          </a:p>
        </p:txBody>
      </p:sp>
      <p:sp>
        <p:nvSpPr>
          <p:cNvPr id="22" name="Shape 20"/>
          <p:cNvSpPr/>
          <p:nvPr/>
        </p:nvSpPr>
        <p:spPr>
          <a:xfrm>
            <a:off x="5349240" y="1810512"/>
            <a:ext cx="2834640" cy="274320"/>
          </a:xfrm>
          <a:prstGeom prst="rect">
            <a:avLst/>
          </a:prstGeom>
          <a:solidFill>
            <a:srgbClr val="E87B35"/>
          </a:solidFill>
          <a:ln w="12700">
            <a:solidFill>
              <a:srgbClr val="E87B35"/>
            </a:solidFill>
            <a:prstDash val="solid"/>
          </a:ln>
        </p:spPr>
      </p:sp>
      <p:sp>
        <p:nvSpPr>
          <p:cNvPr id="23" name="Text 21"/>
          <p:cNvSpPr/>
          <p:nvPr/>
        </p:nvSpPr>
        <p:spPr>
          <a:xfrm>
            <a:off x="8229600" y="1810512"/>
            <a:ext cx="640080" cy="274320"/>
          </a:xfrm>
          <a:prstGeom prst="rect">
            <a:avLst/>
          </a:prstGeom>
          <a:noFill/>
          <a:ln/>
        </p:spPr>
        <p:txBody>
          <a:bodyPr wrap="square" rtlCol="0" anchor="ctr"/>
          <a:lstStyle/>
          <a:p>
            <a:pPr marL="0" indent="0">
              <a:buNone/>
            </a:pPr>
            <a:r>
              <a:rPr lang="en-US" sz="900" dirty="0">
                <a:solidFill>
                  <a:srgbClr val="555555"/>
                </a:solidFill>
                <a:latin typeface="Calibri" pitchFamily="34" charset="0"/>
                <a:ea typeface="Calibri" pitchFamily="34" charset="-122"/>
                <a:cs typeface="Calibri" pitchFamily="34" charset="-120"/>
              </a:rPr>
              <a:t>~4.5s</a:t>
            </a:r>
            <a:endParaRPr lang="en-US" sz="900" dirty="0"/>
          </a:p>
        </p:txBody>
      </p:sp>
      <p:sp>
        <p:nvSpPr>
          <p:cNvPr id="24" name="Text 22"/>
          <p:cNvSpPr/>
          <p:nvPr/>
        </p:nvSpPr>
        <p:spPr>
          <a:xfrm>
            <a:off x="5349240" y="2240280"/>
            <a:ext cx="1920240" cy="320040"/>
          </a:xfrm>
          <a:prstGeom prst="rect">
            <a:avLst/>
          </a:prstGeom>
          <a:noFill/>
          <a:ln/>
        </p:spPr>
        <p:txBody>
          <a:bodyPr wrap="square" rtlCol="0" anchor="ctr"/>
          <a:lstStyle/>
          <a:p>
            <a:pPr marL="0" indent="0">
              <a:buNone/>
            </a:pPr>
            <a:r>
              <a:rPr lang="en-US" sz="1050" dirty="0">
                <a:solidFill>
                  <a:srgbClr val="444444"/>
                </a:solidFill>
                <a:latin typeface="Calibri" pitchFamily="34" charset="0"/>
                <a:ea typeface="Calibri" pitchFamily="34" charset="-122"/>
                <a:cs typeface="Calibri" pitchFamily="34" charset="-120"/>
              </a:rPr>
              <a:t>Client 1 (Straggler)</a:t>
            </a:r>
            <a:endParaRPr lang="en-US" sz="1050" dirty="0"/>
          </a:p>
        </p:txBody>
      </p:sp>
      <p:sp>
        <p:nvSpPr>
          <p:cNvPr id="25" name="Shape 23"/>
          <p:cNvSpPr/>
          <p:nvPr/>
        </p:nvSpPr>
        <p:spPr>
          <a:xfrm>
            <a:off x="5349240" y="2587752"/>
            <a:ext cx="2377440" cy="274320"/>
          </a:xfrm>
          <a:prstGeom prst="rect">
            <a:avLst/>
          </a:prstGeom>
          <a:solidFill>
            <a:srgbClr val="E87B35"/>
          </a:solidFill>
          <a:ln w="12700">
            <a:solidFill>
              <a:srgbClr val="E87B35"/>
            </a:solidFill>
            <a:prstDash val="solid"/>
          </a:ln>
        </p:spPr>
      </p:sp>
      <p:sp>
        <p:nvSpPr>
          <p:cNvPr id="26" name="Text 24"/>
          <p:cNvSpPr/>
          <p:nvPr/>
        </p:nvSpPr>
        <p:spPr>
          <a:xfrm>
            <a:off x="7772400" y="2587752"/>
            <a:ext cx="640080" cy="274320"/>
          </a:xfrm>
          <a:prstGeom prst="rect">
            <a:avLst/>
          </a:prstGeom>
          <a:noFill/>
          <a:ln/>
        </p:spPr>
        <p:txBody>
          <a:bodyPr wrap="square" rtlCol="0" anchor="ctr"/>
          <a:lstStyle/>
          <a:p>
            <a:pPr marL="0" indent="0">
              <a:buNone/>
            </a:pPr>
            <a:r>
              <a:rPr lang="en-US" sz="900" dirty="0">
                <a:solidFill>
                  <a:srgbClr val="555555"/>
                </a:solidFill>
                <a:latin typeface="Calibri" pitchFamily="34" charset="0"/>
                <a:ea typeface="Calibri" pitchFamily="34" charset="-122"/>
                <a:cs typeface="Calibri" pitchFamily="34" charset="-120"/>
              </a:rPr>
              <a:t>~3.8s</a:t>
            </a:r>
            <a:endParaRPr lang="en-US" sz="900" dirty="0"/>
          </a:p>
        </p:txBody>
      </p:sp>
      <p:sp>
        <p:nvSpPr>
          <p:cNvPr id="27" name="Text 25"/>
          <p:cNvSpPr/>
          <p:nvPr/>
        </p:nvSpPr>
        <p:spPr>
          <a:xfrm>
            <a:off x="5349240" y="3017520"/>
            <a:ext cx="1920240" cy="320040"/>
          </a:xfrm>
          <a:prstGeom prst="rect">
            <a:avLst/>
          </a:prstGeom>
          <a:noFill/>
          <a:ln/>
        </p:spPr>
        <p:txBody>
          <a:bodyPr wrap="square" rtlCol="0" anchor="ctr"/>
          <a:lstStyle/>
          <a:p>
            <a:pPr marL="0" indent="0">
              <a:buNone/>
            </a:pPr>
            <a:r>
              <a:rPr lang="en-US" sz="1050" dirty="0">
                <a:solidFill>
                  <a:srgbClr val="444444"/>
                </a:solidFill>
                <a:latin typeface="Calibri" pitchFamily="34" charset="0"/>
                <a:ea typeface="Calibri" pitchFamily="34" charset="-122"/>
                <a:cs typeface="Calibri" pitchFamily="34" charset="-120"/>
              </a:rPr>
              <a:t>Client 2–9 (Fast)</a:t>
            </a:r>
            <a:endParaRPr lang="en-US" sz="1050" dirty="0"/>
          </a:p>
        </p:txBody>
      </p:sp>
      <p:sp>
        <p:nvSpPr>
          <p:cNvPr id="28" name="Shape 26"/>
          <p:cNvSpPr/>
          <p:nvPr/>
        </p:nvSpPr>
        <p:spPr>
          <a:xfrm>
            <a:off x="5349240" y="3364992"/>
            <a:ext cx="731520" cy="274320"/>
          </a:xfrm>
          <a:prstGeom prst="rect">
            <a:avLst/>
          </a:prstGeom>
          <a:solidFill>
            <a:srgbClr val="2EAA6E"/>
          </a:solidFill>
          <a:ln w="12700">
            <a:solidFill>
              <a:srgbClr val="2EAA6E"/>
            </a:solidFill>
            <a:prstDash val="solid"/>
          </a:ln>
        </p:spPr>
      </p:sp>
      <p:sp>
        <p:nvSpPr>
          <p:cNvPr id="29" name="Text 27"/>
          <p:cNvSpPr/>
          <p:nvPr/>
        </p:nvSpPr>
        <p:spPr>
          <a:xfrm>
            <a:off x="6126480" y="3364992"/>
            <a:ext cx="640080" cy="274320"/>
          </a:xfrm>
          <a:prstGeom prst="rect">
            <a:avLst/>
          </a:prstGeom>
          <a:noFill/>
          <a:ln/>
        </p:spPr>
        <p:txBody>
          <a:bodyPr wrap="square" rtlCol="0" anchor="ctr"/>
          <a:lstStyle/>
          <a:p>
            <a:pPr marL="0" indent="0">
              <a:buNone/>
            </a:pPr>
            <a:r>
              <a:rPr lang="en-US" sz="900" dirty="0">
                <a:solidFill>
                  <a:srgbClr val="555555"/>
                </a:solidFill>
                <a:latin typeface="Calibri" pitchFamily="34" charset="0"/>
                <a:ea typeface="Calibri" pitchFamily="34" charset="-122"/>
                <a:cs typeface="Calibri" pitchFamily="34" charset="-120"/>
              </a:rPr>
              <a:t>0.3s</a:t>
            </a:r>
            <a:endParaRPr lang="en-US" sz="900" dirty="0"/>
          </a:p>
        </p:txBody>
      </p:sp>
      <p:sp>
        <p:nvSpPr>
          <p:cNvPr id="30" name="Shape 28"/>
          <p:cNvSpPr/>
          <p:nvPr/>
        </p:nvSpPr>
        <p:spPr>
          <a:xfrm>
            <a:off x="5349240" y="3840480"/>
            <a:ext cx="3291840" cy="0"/>
          </a:xfrm>
          <a:prstGeom prst="line">
            <a:avLst/>
          </a:prstGeom>
          <a:noFill/>
          <a:ln w="12700">
            <a:solidFill>
              <a:srgbClr val="BCC5D6"/>
            </a:solidFill>
            <a:prstDash val="dash"/>
          </a:ln>
        </p:spPr>
      </p:sp>
      <p:sp>
        <p:nvSpPr>
          <p:cNvPr id="31" name="Text 29"/>
          <p:cNvSpPr/>
          <p:nvPr/>
        </p:nvSpPr>
        <p:spPr>
          <a:xfrm>
            <a:off x="5349240" y="3886200"/>
            <a:ext cx="3383280" cy="347472"/>
          </a:xfrm>
          <a:prstGeom prst="rect">
            <a:avLst/>
          </a:prstGeom>
          <a:noFill/>
          <a:ln/>
        </p:spPr>
        <p:txBody>
          <a:bodyPr wrap="square" rtlCol="0" anchor="ctr"/>
          <a:lstStyle/>
          <a:p>
            <a:pPr marL="0" indent="0" algn="ctr">
              <a:buNone/>
            </a:pPr>
            <a:r>
              <a:rPr lang="en-US" sz="1100" b="1" dirty="0">
                <a:solidFill>
                  <a:srgbClr val="D94040"/>
                </a:solidFill>
                <a:latin typeface="Calibri" pitchFamily="34" charset="0"/>
                <a:ea typeface="Calibri" pitchFamily="34" charset="-122"/>
                <a:cs typeface="Calibri" pitchFamily="34" charset="-120"/>
              </a:rPr>
              <a:t>Deadline blocked by slowest!</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0D1B2A"/>
          </a:solidFill>
          <a:ln/>
        </p:spPr>
      </p:sp>
      <p:sp>
        <p:nvSpPr>
          <p:cNvPr id="3" name="Shape 1"/>
          <p:cNvSpPr/>
          <p:nvPr/>
        </p:nvSpPr>
        <p:spPr>
          <a:xfrm>
            <a:off x="0" y="749808"/>
            <a:ext cx="9144000" cy="50292"/>
          </a:xfrm>
          <a:prstGeom prst="rect">
            <a:avLst/>
          </a:prstGeom>
          <a:solidFill>
            <a:srgbClr val="1565C0"/>
          </a:solidFill>
          <a:ln/>
        </p:spPr>
      </p:sp>
      <p:sp>
        <p:nvSpPr>
          <p:cNvPr id="4" name="Text 2"/>
          <p:cNvSpPr/>
          <p:nvPr/>
        </p:nvSpPr>
        <p:spPr>
          <a:xfrm>
            <a:off x="320040" y="54864"/>
            <a:ext cx="8503920" cy="64008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Existing Solutions Fall Short</a:t>
            </a:r>
            <a:endParaRPr lang="en-US" sz="2600" dirty="0"/>
          </a:p>
        </p:txBody>
      </p:sp>
      <p:sp>
        <p:nvSpPr>
          <p:cNvPr id="5" name="Shape 3"/>
          <p:cNvSpPr/>
          <p:nvPr/>
        </p:nvSpPr>
        <p:spPr>
          <a:xfrm>
            <a:off x="292608" y="896112"/>
            <a:ext cx="8549640" cy="731520"/>
          </a:xfrm>
          <a:prstGeom prst="rect">
            <a:avLst/>
          </a:prstGeom>
          <a:solidFill>
            <a:srgbClr val="FFFFFF"/>
          </a:solidFill>
          <a:ln/>
          <a:effectLst>
            <a:outerShdw blurRad="63500" dist="25400" dir="8100000" algn="bl" rotWithShape="0">
              <a:srgbClr val="000000">
                <a:alpha val="12000"/>
              </a:srgbClr>
            </a:outerShdw>
          </a:effectLst>
        </p:spPr>
      </p:sp>
      <p:sp>
        <p:nvSpPr>
          <p:cNvPr id="6" name="Shape 4"/>
          <p:cNvSpPr/>
          <p:nvPr/>
        </p:nvSpPr>
        <p:spPr>
          <a:xfrm>
            <a:off x="292608" y="896112"/>
            <a:ext cx="54864" cy="731520"/>
          </a:xfrm>
          <a:prstGeom prst="rect">
            <a:avLst/>
          </a:prstGeom>
          <a:solidFill>
            <a:srgbClr val="C62828"/>
          </a:solidFill>
          <a:ln/>
        </p:spPr>
      </p:sp>
      <p:sp>
        <p:nvSpPr>
          <p:cNvPr id="7" name="Text 5"/>
          <p:cNvSpPr/>
          <p:nvPr/>
        </p:nvSpPr>
        <p:spPr>
          <a:xfrm>
            <a:off x="457200" y="950976"/>
            <a:ext cx="2468880" cy="292608"/>
          </a:xfrm>
          <a:prstGeom prst="rect">
            <a:avLst/>
          </a:prstGeom>
          <a:noFill/>
          <a:ln/>
        </p:spPr>
        <p:txBody>
          <a:bodyPr wrap="square" lIns="0" tIns="0" rIns="0" bIns="0" rtlCol="0" anchor="ctr"/>
          <a:lstStyle/>
          <a:p>
            <a:pPr marL="0" indent="0">
              <a:buNone/>
            </a:pPr>
            <a:r>
              <a:rPr lang="en-US" sz="1250" b="1" dirty="0">
                <a:solidFill>
                  <a:srgbClr val="111111"/>
                </a:solidFill>
                <a:latin typeface="Calibri" pitchFamily="34" charset="0"/>
                <a:ea typeface="Calibri" pitchFamily="34" charset="-122"/>
                <a:cs typeface="Calibri" pitchFamily="34" charset="-120"/>
              </a:rPr>
              <a:t>Full Sync (Baseline)</a:t>
            </a:r>
            <a:endParaRPr lang="en-US" sz="1250" dirty="0"/>
          </a:p>
        </p:txBody>
      </p:sp>
      <p:sp>
        <p:nvSpPr>
          <p:cNvPr id="8" name="Text 6"/>
          <p:cNvSpPr/>
          <p:nvPr/>
        </p:nvSpPr>
        <p:spPr>
          <a:xfrm>
            <a:off x="2971800" y="950976"/>
            <a:ext cx="2834640" cy="292608"/>
          </a:xfrm>
          <a:prstGeom prst="rect">
            <a:avLst/>
          </a:prstGeom>
          <a:noFill/>
          <a:ln/>
        </p:spPr>
        <p:txBody>
          <a:bodyPr wrap="square" lIns="0" tIns="0" rIns="0" bIns="0" rtlCol="0" anchor="ctr"/>
          <a:lstStyle/>
          <a:p>
            <a:pPr marL="0" indent="0">
              <a:buNone/>
            </a:pPr>
            <a:r>
              <a:rPr lang="en-US" sz="1150" dirty="0">
                <a:solidFill>
                  <a:srgbClr val="2E7D32"/>
                </a:solidFill>
                <a:latin typeface="Calibri" pitchFamily="34" charset="0"/>
                <a:ea typeface="Calibri" pitchFamily="34" charset="-122"/>
                <a:cs typeface="Calibri" pitchFamily="34" charset="-120"/>
              </a:rPr>
              <a:t>✓ 100% data coverage</a:t>
            </a:r>
            <a:endParaRPr lang="en-US" sz="1150" dirty="0"/>
          </a:p>
        </p:txBody>
      </p:sp>
      <p:sp>
        <p:nvSpPr>
          <p:cNvPr id="9" name="Text 7"/>
          <p:cNvSpPr/>
          <p:nvPr/>
        </p:nvSpPr>
        <p:spPr>
          <a:xfrm>
            <a:off x="5852160" y="950976"/>
            <a:ext cx="2926080" cy="292608"/>
          </a:xfrm>
          <a:prstGeom prst="rect">
            <a:avLst/>
          </a:prstGeom>
          <a:noFill/>
          <a:ln/>
        </p:spPr>
        <p:txBody>
          <a:bodyPr wrap="square" lIns="0" tIns="0" rIns="0" bIns="0" rtlCol="0" anchor="ctr"/>
          <a:lstStyle/>
          <a:p>
            <a:pPr marL="0" indent="0">
              <a:buNone/>
            </a:pPr>
            <a:r>
              <a:rPr lang="en-US" sz="1150" dirty="0">
                <a:solidFill>
                  <a:srgbClr val="C62828"/>
                </a:solidFill>
                <a:latin typeface="Calibri" pitchFamily="34" charset="0"/>
                <a:ea typeface="Calibri" pitchFamily="34" charset="-122"/>
                <a:cs typeface="Calibri" pitchFamily="34" charset="-120"/>
              </a:rPr>
              <a:t>✗ Waits for slowest — unbounded delay</a:t>
            </a:r>
            <a:endParaRPr lang="en-US" sz="1150" dirty="0"/>
          </a:p>
        </p:txBody>
      </p:sp>
      <p:sp>
        <p:nvSpPr>
          <p:cNvPr id="10" name="Text 8"/>
          <p:cNvSpPr/>
          <p:nvPr/>
        </p:nvSpPr>
        <p:spPr>
          <a:xfrm>
            <a:off x="457200" y="1316736"/>
            <a:ext cx="8321040" cy="256032"/>
          </a:xfrm>
          <a:prstGeom prst="rect">
            <a:avLst/>
          </a:prstGeom>
          <a:noFill/>
          <a:ln/>
        </p:spPr>
        <p:txBody>
          <a:bodyPr wrap="square" rtlCol="0" anchor="ctr"/>
          <a:lstStyle/>
          <a:p>
            <a:pPr marL="0" indent="0">
              <a:buNone/>
            </a:pPr>
            <a:r>
              <a:rPr lang="en-US" sz="1000" i="1" dirty="0">
                <a:solidFill>
                  <a:srgbClr val="666666"/>
                </a:solidFill>
                <a:latin typeface="Calibri" pitchFamily="34" charset="0"/>
                <a:ea typeface="Calibri" pitchFamily="34" charset="-122"/>
                <a:cs typeface="Calibri" pitchFamily="34" charset="-120"/>
              </a:rPr>
              <a:t>Speed vs. coverage tradeoff</a:t>
            </a:r>
            <a:endParaRPr lang="en-US" sz="1000" dirty="0"/>
          </a:p>
        </p:txBody>
      </p:sp>
      <p:sp>
        <p:nvSpPr>
          <p:cNvPr id="11" name="Shape 9"/>
          <p:cNvSpPr/>
          <p:nvPr/>
        </p:nvSpPr>
        <p:spPr>
          <a:xfrm>
            <a:off x="292608" y="1728216"/>
            <a:ext cx="8549640" cy="731520"/>
          </a:xfrm>
          <a:prstGeom prst="rect">
            <a:avLst/>
          </a:prstGeom>
          <a:solidFill>
            <a:srgbClr val="FFFFFF"/>
          </a:solidFill>
          <a:ln/>
          <a:effectLst>
            <a:outerShdw blurRad="63500" dist="25400" dir="8100000" algn="bl" rotWithShape="0">
              <a:srgbClr val="000000">
                <a:alpha val="12000"/>
              </a:srgbClr>
            </a:outerShdw>
          </a:effectLst>
        </p:spPr>
      </p:sp>
      <p:sp>
        <p:nvSpPr>
          <p:cNvPr id="12" name="Shape 10"/>
          <p:cNvSpPr/>
          <p:nvPr/>
        </p:nvSpPr>
        <p:spPr>
          <a:xfrm>
            <a:off x="292608" y="1728216"/>
            <a:ext cx="54864" cy="731520"/>
          </a:xfrm>
          <a:prstGeom prst="rect">
            <a:avLst/>
          </a:prstGeom>
          <a:solidFill>
            <a:srgbClr val="C62828"/>
          </a:solidFill>
          <a:ln/>
        </p:spPr>
      </p:sp>
      <p:sp>
        <p:nvSpPr>
          <p:cNvPr id="13" name="Text 11"/>
          <p:cNvSpPr/>
          <p:nvPr/>
        </p:nvSpPr>
        <p:spPr>
          <a:xfrm>
            <a:off x="457200" y="1783080"/>
            <a:ext cx="2468880" cy="292608"/>
          </a:xfrm>
          <a:prstGeom prst="rect">
            <a:avLst/>
          </a:prstGeom>
          <a:noFill/>
          <a:ln/>
        </p:spPr>
        <p:txBody>
          <a:bodyPr wrap="square" lIns="0" tIns="0" rIns="0" bIns="0" rtlCol="0" anchor="ctr"/>
          <a:lstStyle/>
          <a:p>
            <a:pPr marL="0" indent="0">
              <a:buNone/>
            </a:pPr>
            <a:r>
              <a:rPr lang="en-US" sz="1250" b="1" dirty="0">
                <a:solidFill>
                  <a:srgbClr val="111111"/>
                </a:solidFill>
                <a:latin typeface="Calibri" pitchFamily="34" charset="0"/>
                <a:ea typeface="Calibri" pitchFamily="34" charset="-122"/>
                <a:cs typeface="Calibri" pitchFamily="34" charset="-120"/>
              </a:rPr>
              <a:t>Partial (k=5)</a:t>
            </a:r>
            <a:endParaRPr lang="en-US" sz="1250" dirty="0"/>
          </a:p>
        </p:txBody>
      </p:sp>
      <p:sp>
        <p:nvSpPr>
          <p:cNvPr id="14" name="Text 12"/>
          <p:cNvSpPr/>
          <p:nvPr/>
        </p:nvSpPr>
        <p:spPr>
          <a:xfrm>
            <a:off x="2971800" y="1783080"/>
            <a:ext cx="2834640" cy="292608"/>
          </a:xfrm>
          <a:prstGeom prst="rect">
            <a:avLst/>
          </a:prstGeom>
          <a:noFill/>
          <a:ln/>
        </p:spPr>
        <p:txBody>
          <a:bodyPr wrap="square" lIns="0" tIns="0" rIns="0" bIns="0" rtlCol="0" anchor="ctr"/>
          <a:lstStyle/>
          <a:p>
            <a:pPr marL="0" indent="0">
              <a:buNone/>
            </a:pPr>
            <a:r>
              <a:rPr lang="en-US" sz="1150" dirty="0">
                <a:solidFill>
                  <a:srgbClr val="2E7D32"/>
                </a:solidFill>
                <a:latin typeface="Calibri" pitchFamily="34" charset="0"/>
                <a:ea typeface="Calibri" pitchFamily="34" charset="-122"/>
                <a:cs typeface="Calibri" pitchFamily="34" charset="-120"/>
              </a:rPr>
              <a:t>✓ Faster rounds</a:t>
            </a:r>
            <a:endParaRPr lang="en-US" sz="1150" dirty="0"/>
          </a:p>
        </p:txBody>
      </p:sp>
      <p:sp>
        <p:nvSpPr>
          <p:cNvPr id="15" name="Text 13"/>
          <p:cNvSpPr/>
          <p:nvPr/>
        </p:nvSpPr>
        <p:spPr>
          <a:xfrm>
            <a:off x="5852160" y="1783080"/>
            <a:ext cx="2926080" cy="292608"/>
          </a:xfrm>
          <a:prstGeom prst="rect">
            <a:avLst/>
          </a:prstGeom>
          <a:noFill/>
          <a:ln/>
        </p:spPr>
        <p:txBody>
          <a:bodyPr wrap="square" lIns="0" tIns="0" rIns="0" bIns="0" rtlCol="0" anchor="ctr"/>
          <a:lstStyle/>
          <a:p>
            <a:pPr marL="0" indent="0">
              <a:buNone/>
            </a:pPr>
            <a:r>
              <a:rPr lang="en-US" sz="1150" dirty="0">
                <a:solidFill>
                  <a:srgbClr val="C62828"/>
                </a:solidFill>
                <a:latin typeface="Calibri" pitchFamily="34" charset="0"/>
                <a:ea typeface="Calibri" pitchFamily="34" charset="-122"/>
                <a:cs typeface="Calibri" pitchFamily="34" charset="-120"/>
              </a:rPr>
              <a:t>✗ Same clients excluded every round → persistent non-IID bias</a:t>
            </a:r>
            <a:endParaRPr lang="en-US" sz="1150" dirty="0"/>
          </a:p>
        </p:txBody>
      </p:sp>
      <p:sp>
        <p:nvSpPr>
          <p:cNvPr id="16" name="Text 14"/>
          <p:cNvSpPr/>
          <p:nvPr/>
        </p:nvSpPr>
        <p:spPr>
          <a:xfrm>
            <a:off x="457200" y="2148840"/>
            <a:ext cx="8321040" cy="256032"/>
          </a:xfrm>
          <a:prstGeom prst="rect">
            <a:avLst/>
          </a:prstGeom>
          <a:noFill/>
          <a:ln/>
        </p:spPr>
        <p:txBody>
          <a:bodyPr wrap="square" rtlCol="0" anchor="ctr"/>
          <a:lstStyle/>
          <a:p>
            <a:pPr marL="0" indent="0">
              <a:buNone/>
            </a:pPr>
            <a:r>
              <a:rPr lang="en-US" sz="1000" i="1" dirty="0">
                <a:solidFill>
                  <a:srgbClr val="666666"/>
                </a:solidFill>
                <a:latin typeface="Calibri" pitchFamily="34" charset="0"/>
                <a:ea typeface="Calibri" pitchFamily="34" charset="-122"/>
                <a:cs typeface="Calibri" pitchFamily="34" charset="-120"/>
              </a:rPr>
              <a:t>Speed vs. coverage tradeoff</a:t>
            </a:r>
            <a:endParaRPr lang="en-US" sz="1000" dirty="0"/>
          </a:p>
        </p:txBody>
      </p:sp>
      <p:sp>
        <p:nvSpPr>
          <p:cNvPr id="17" name="Shape 15"/>
          <p:cNvSpPr/>
          <p:nvPr/>
        </p:nvSpPr>
        <p:spPr>
          <a:xfrm>
            <a:off x="292608" y="2560320"/>
            <a:ext cx="8549640" cy="731520"/>
          </a:xfrm>
          <a:prstGeom prst="rect">
            <a:avLst/>
          </a:prstGeom>
          <a:solidFill>
            <a:srgbClr val="FFFFFF"/>
          </a:solidFill>
          <a:ln/>
          <a:effectLst>
            <a:outerShdw blurRad="63500" dist="25400" dir="8100000" algn="bl" rotWithShape="0">
              <a:srgbClr val="000000">
                <a:alpha val="12000"/>
              </a:srgbClr>
            </a:outerShdw>
          </a:effectLst>
        </p:spPr>
      </p:sp>
      <p:sp>
        <p:nvSpPr>
          <p:cNvPr id="18" name="Shape 16"/>
          <p:cNvSpPr/>
          <p:nvPr/>
        </p:nvSpPr>
        <p:spPr>
          <a:xfrm>
            <a:off x="292608" y="2560320"/>
            <a:ext cx="54864" cy="731520"/>
          </a:xfrm>
          <a:prstGeom prst="rect">
            <a:avLst/>
          </a:prstGeom>
          <a:solidFill>
            <a:srgbClr val="C62828"/>
          </a:solidFill>
          <a:ln/>
        </p:spPr>
      </p:sp>
      <p:sp>
        <p:nvSpPr>
          <p:cNvPr id="19" name="Text 17"/>
          <p:cNvSpPr/>
          <p:nvPr/>
        </p:nvSpPr>
        <p:spPr>
          <a:xfrm>
            <a:off x="457200" y="2615184"/>
            <a:ext cx="2468880" cy="292608"/>
          </a:xfrm>
          <a:prstGeom prst="rect">
            <a:avLst/>
          </a:prstGeom>
          <a:noFill/>
          <a:ln/>
        </p:spPr>
        <p:txBody>
          <a:bodyPr wrap="square" lIns="0" tIns="0" rIns="0" bIns="0" rtlCol="0" anchor="ctr"/>
          <a:lstStyle/>
          <a:p>
            <a:pPr marL="0" indent="0">
              <a:buNone/>
            </a:pPr>
            <a:r>
              <a:rPr lang="en-US" sz="1250" b="1" dirty="0">
                <a:solidFill>
                  <a:srgbClr val="111111"/>
                </a:solidFill>
                <a:latin typeface="Calibri" pitchFamily="34" charset="0"/>
                <a:ea typeface="Calibri" pitchFamily="34" charset="-122"/>
                <a:cs typeface="Calibri" pitchFamily="34" charset="-120"/>
              </a:rPr>
              <a:t>Deadline-based (8s)</a:t>
            </a:r>
            <a:endParaRPr lang="en-US" sz="1250" dirty="0"/>
          </a:p>
        </p:txBody>
      </p:sp>
      <p:sp>
        <p:nvSpPr>
          <p:cNvPr id="20" name="Text 18"/>
          <p:cNvSpPr/>
          <p:nvPr/>
        </p:nvSpPr>
        <p:spPr>
          <a:xfrm>
            <a:off x="2971800" y="2615184"/>
            <a:ext cx="2834640" cy="292608"/>
          </a:xfrm>
          <a:prstGeom prst="rect">
            <a:avLst/>
          </a:prstGeom>
          <a:noFill/>
          <a:ln/>
        </p:spPr>
        <p:txBody>
          <a:bodyPr wrap="square" lIns="0" tIns="0" rIns="0" bIns="0" rtlCol="0" anchor="ctr"/>
          <a:lstStyle/>
          <a:p>
            <a:pPr marL="0" indent="0">
              <a:buNone/>
            </a:pPr>
            <a:r>
              <a:rPr lang="en-US" sz="1150" dirty="0">
                <a:solidFill>
                  <a:srgbClr val="2E7D32"/>
                </a:solidFill>
                <a:latin typeface="Calibri" pitchFamily="34" charset="0"/>
                <a:ea typeface="Calibri" pitchFamily="34" charset="-122"/>
                <a:cs typeface="Calibri" pitchFamily="34" charset="-120"/>
              </a:rPr>
              <a:t>✓ Bounded round time</a:t>
            </a:r>
            <a:endParaRPr lang="en-US" sz="1150" dirty="0"/>
          </a:p>
        </p:txBody>
      </p:sp>
      <p:sp>
        <p:nvSpPr>
          <p:cNvPr id="21" name="Text 19"/>
          <p:cNvSpPr/>
          <p:nvPr/>
        </p:nvSpPr>
        <p:spPr>
          <a:xfrm>
            <a:off x="5852160" y="2615184"/>
            <a:ext cx="2926080" cy="292608"/>
          </a:xfrm>
          <a:prstGeom prst="rect">
            <a:avLst/>
          </a:prstGeom>
          <a:noFill/>
          <a:ln/>
        </p:spPr>
        <p:txBody>
          <a:bodyPr wrap="square" lIns="0" tIns="0" rIns="0" bIns="0" rtlCol="0" anchor="ctr"/>
          <a:lstStyle/>
          <a:p>
            <a:pPr marL="0" indent="0">
              <a:buNone/>
            </a:pPr>
            <a:r>
              <a:rPr lang="en-US" sz="1150" dirty="0">
                <a:solidFill>
                  <a:srgbClr val="C62828"/>
                </a:solidFill>
                <a:latin typeface="Calibri" pitchFamily="34" charset="0"/>
                <a:ea typeface="Calibri" pitchFamily="34" charset="-122"/>
                <a:cs typeface="Calibri" pitchFamily="34" charset="-120"/>
              </a:rPr>
              <a:t>✗ Wastes entire rounds when stragglers miss cutoff</a:t>
            </a:r>
            <a:endParaRPr lang="en-US" sz="1150" dirty="0"/>
          </a:p>
        </p:txBody>
      </p:sp>
      <p:sp>
        <p:nvSpPr>
          <p:cNvPr id="22" name="Text 20"/>
          <p:cNvSpPr/>
          <p:nvPr/>
        </p:nvSpPr>
        <p:spPr>
          <a:xfrm>
            <a:off x="457200" y="2980944"/>
            <a:ext cx="8321040" cy="256032"/>
          </a:xfrm>
          <a:prstGeom prst="rect">
            <a:avLst/>
          </a:prstGeom>
          <a:noFill/>
          <a:ln/>
        </p:spPr>
        <p:txBody>
          <a:bodyPr wrap="square" rtlCol="0" anchor="ctr"/>
          <a:lstStyle/>
          <a:p>
            <a:pPr marL="0" indent="0">
              <a:buNone/>
            </a:pPr>
            <a:r>
              <a:rPr lang="en-US" sz="1000" i="1" dirty="0">
                <a:solidFill>
                  <a:srgbClr val="666666"/>
                </a:solidFill>
                <a:latin typeface="Calibri" pitchFamily="34" charset="0"/>
                <a:ea typeface="Calibri" pitchFamily="34" charset="-122"/>
                <a:cs typeface="Calibri" pitchFamily="34" charset="-120"/>
              </a:rPr>
              <a:t>Speed vs. coverage tradeoff</a:t>
            </a:r>
            <a:endParaRPr lang="en-US" sz="1000" dirty="0"/>
          </a:p>
        </p:txBody>
      </p:sp>
      <p:sp>
        <p:nvSpPr>
          <p:cNvPr id="23" name="Shape 21"/>
          <p:cNvSpPr/>
          <p:nvPr/>
        </p:nvSpPr>
        <p:spPr>
          <a:xfrm>
            <a:off x="292608" y="3392424"/>
            <a:ext cx="8549640" cy="731520"/>
          </a:xfrm>
          <a:prstGeom prst="rect">
            <a:avLst/>
          </a:prstGeom>
          <a:solidFill>
            <a:srgbClr val="FFFFFF"/>
          </a:solidFill>
          <a:ln/>
          <a:effectLst>
            <a:outerShdw blurRad="63500" dist="25400" dir="8100000" algn="bl" rotWithShape="0">
              <a:srgbClr val="000000">
                <a:alpha val="12000"/>
              </a:srgbClr>
            </a:outerShdw>
          </a:effectLst>
        </p:spPr>
      </p:sp>
      <p:sp>
        <p:nvSpPr>
          <p:cNvPr id="24" name="Shape 22"/>
          <p:cNvSpPr/>
          <p:nvPr/>
        </p:nvSpPr>
        <p:spPr>
          <a:xfrm>
            <a:off x="292608" y="3392424"/>
            <a:ext cx="54864" cy="731520"/>
          </a:xfrm>
          <a:prstGeom prst="rect">
            <a:avLst/>
          </a:prstGeom>
          <a:solidFill>
            <a:srgbClr val="C62828"/>
          </a:solidFill>
          <a:ln/>
        </p:spPr>
      </p:sp>
      <p:sp>
        <p:nvSpPr>
          <p:cNvPr id="25" name="Text 23"/>
          <p:cNvSpPr/>
          <p:nvPr/>
        </p:nvSpPr>
        <p:spPr>
          <a:xfrm>
            <a:off x="457200" y="3447288"/>
            <a:ext cx="2468880" cy="292608"/>
          </a:xfrm>
          <a:prstGeom prst="rect">
            <a:avLst/>
          </a:prstGeom>
          <a:noFill/>
          <a:ln/>
        </p:spPr>
        <p:txBody>
          <a:bodyPr wrap="square" lIns="0" tIns="0" rIns="0" bIns="0" rtlCol="0" anchor="ctr"/>
          <a:lstStyle/>
          <a:p>
            <a:pPr marL="0" indent="0">
              <a:buNone/>
            </a:pPr>
            <a:r>
              <a:rPr lang="en-US" sz="1250" b="1" dirty="0">
                <a:solidFill>
                  <a:srgbClr val="111111"/>
                </a:solidFill>
                <a:latin typeface="Calibri" pitchFamily="34" charset="0"/>
                <a:ea typeface="Calibri" pitchFamily="34" charset="-122"/>
                <a:cs typeface="Calibri" pitchFamily="34" charset="-120"/>
              </a:rPr>
              <a:t>Async (1.5s window)</a:t>
            </a:r>
            <a:endParaRPr lang="en-US" sz="1250" dirty="0"/>
          </a:p>
        </p:txBody>
      </p:sp>
      <p:sp>
        <p:nvSpPr>
          <p:cNvPr id="26" name="Text 24"/>
          <p:cNvSpPr/>
          <p:nvPr/>
        </p:nvSpPr>
        <p:spPr>
          <a:xfrm>
            <a:off x="2971800" y="3447288"/>
            <a:ext cx="2834640" cy="292608"/>
          </a:xfrm>
          <a:prstGeom prst="rect">
            <a:avLst/>
          </a:prstGeom>
          <a:noFill/>
          <a:ln/>
        </p:spPr>
        <p:txBody>
          <a:bodyPr wrap="square" lIns="0" tIns="0" rIns="0" bIns="0" rtlCol="0" anchor="ctr"/>
          <a:lstStyle/>
          <a:p>
            <a:pPr marL="0" indent="0">
              <a:buNone/>
            </a:pPr>
            <a:r>
              <a:rPr lang="en-US" sz="1150" dirty="0">
                <a:solidFill>
                  <a:srgbClr val="2E7D32"/>
                </a:solidFill>
                <a:latin typeface="Calibri" pitchFamily="34" charset="0"/>
                <a:ea typeface="Calibri" pitchFamily="34" charset="-122"/>
                <a:cs typeface="Calibri" pitchFamily="34" charset="-120"/>
              </a:rPr>
              <a:t>✓ Very short wait</a:t>
            </a:r>
            <a:endParaRPr lang="en-US" sz="1150" dirty="0"/>
          </a:p>
        </p:txBody>
      </p:sp>
      <p:sp>
        <p:nvSpPr>
          <p:cNvPr id="27" name="Text 25"/>
          <p:cNvSpPr/>
          <p:nvPr/>
        </p:nvSpPr>
        <p:spPr>
          <a:xfrm>
            <a:off x="5852160" y="3447288"/>
            <a:ext cx="2926080" cy="292608"/>
          </a:xfrm>
          <a:prstGeom prst="rect">
            <a:avLst/>
          </a:prstGeom>
          <a:noFill/>
          <a:ln/>
        </p:spPr>
        <p:txBody>
          <a:bodyPr wrap="square" lIns="0" tIns="0" rIns="0" bIns="0" rtlCol="0" anchor="ctr"/>
          <a:lstStyle/>
          <a:p>
            <a:pPr marL="0" indent="0">
              <a:buNone/>
            </a:pPr>
            <a:r>
              <a:rPr lang="en-US" sz="1150" dirty="0">
                <a:solidFill>
                  <a:srgbClr val="C62828"/>
                </a:solidFill>
                <a:latin typeface="Calibri" pitchFamily="34" charset="0"/>
                <a:ea typeface="Calibri" pitchFamily="34" charset="-122"/>
                <a:cs typeface="Calibri" pitchFamily="34" charset="-120"/>
              </a:rPr>
              <a:t>✗ Window too tight → collected ZERO updates in our setup</a:t>
            </a:r>
            <a:endParaRPr lang="en-US" sz="1150" dirty="0"/>
          </a:p>
        </p:txBody>
      </p:sp>
      <p:sp>
        <p:nvSpPr>
          <p:cNvPr id="28" name="Text 26"/>
          <p:cNvSpPr/>
          <p:nvPr/>
        </p:nvSpPr>
        <p:spPr>
          <a:xfrm>
            <a:off x="457200" y="3813048"/>
            <a:ext cx="8321040" cy="256032"/>
          </a:xfrm>
          <a:prstGeom prst="rect">
            <a:avLst/>
          </a:prstGeom>
          <a:noFill/>
          <a:ln/>
        </p:spPr>
        <p:txBody>
          <a:bodyPr wrap="square" rtlCol="0" anchor="ctr"/>
          <a:lstStyle/>
          <a:p>
            <a:pPr marL="0" indent="0">
              <a:buNone/>
            </a:pPr>
            <a:r>
              <a:rPr lang="en-US" sz="1000" i="1" dirty="0">
                <a:solidFill>
                  <a:srgbClr val="666666"/>
                </a:solidFill>
                <a:latin typeface="Calibri" pitchFamily="34" charset="0"/>
                <a:ea typeface="Calibri" pitchFamily="34" charset="-122"/>
                <a:cs typeface="Calibri" pitchFamily="34" charset="-120"/>
              </a:rPr>
              <a:t>Speed vs. coverage tradeoff</a:t>
            </a:r>
            <a:endParaRPr lang="en-US" sz="1000" dirty="0"/>
          </a:p>
        </p:txBody>
      </p:sp>
      <p:sp>
        <p:nvSpPr>
          <p:cNvPr id="29" name="Shape 27"/>
          <p:cNvSpPr/>
          <p:nvPr/>
        </p:nvSpPr>
        <p:spPr>
          <a:xfrm>
            <a:off x="292608" y="4224528"/>
            <a:ext cx="8549640" cy="731520"/>
          </a:xfrm>
          <a:prstGeom prst="rect">
            <a:avLst/>
          </a:prstGeom>
          <a:solidFill>
            <a:srgbClr val="E8F5E9"/>
          </a:solidFill>
          <a:ln/>
          <a:effectLst>
            <a:outerShdw blurRad="63500" dist="25400" dir="8100000" algn="bl" rotWithShape="0">
              <a:srgbClr val="000000">
                <a:alpha val="12000"/>
              </a:srgbClr>
            </a:outerShdw>
          </a:effectLst>
        </p:spPr>
      </p:sp>
      <p:sp>
        <p:nvSpPr>
          <p:cNvPr id="30" name="Shape 28"/>
          <p:cNvSpPr/>
          <p:nvPr/>
        </p:nvSpPr>
        <p:spPr>
          <a:xfrm>
            <a:off x="292608" y="4224528"/>
            <a:ext cx="54864" cy="731520"/>
          </a:xfrm>
          <a:prstGeom prst="rect">
            <a:avLst/>
          </a:prstGeom>
          <a:solidFill>
            <a:srgbClr val="2E7D32"/>
          </a:solidFill>
          <a:ln/>
        </p:spPr>
      </p:sp>
      <p:sp>
        <p:nvSpPr>
          <p:cNvPr id="31" name="Text 29"/>
          <p:cNvSpPr/>
          <p:nvPr/>
        </p:nvSpPr>
        <p:spPr>
          <a:xfrm>
            <a:off x="457200" y="4279392"/>
            <a:ext cx="2468880" cy="292608"/>
          </a:xfrm>
          <a:prstGeom prst="rect">
            <a:avLst/>
          </a:prstGeom>
          <a:noFill/>
          <a:ln/>
        </p:spPr>
        <p:txBody>
          <a:bodyPr wrap="square" lIns="0" tIns="0" rIns="0" bIns="0" rtlCol="0" anchor="ctr"/>
          <a:lstStyle/>
          <a:p>
            <a:pPr marL="0" indent="0">
              <a:buNone/>
            </a:pPr>
            <a:r>
              <a:rPr lang="en-US" sz="1250" b="1" dirty="0">
                <a:solidFill>
                  <a:srgbClr val="111111"/>
                </a:solidFill>
                <a:latin typeface="Calibri" pitchFamily="34" charset="0"/>
                <a:ea typeface="Calibri" pitchFamily="34" charset="-122"/>
                <a:cs typeface="Calibri" pitchFamily="34" charset="-120"/>
              </a:rPr>
              <a:t>Erasure Coded  ★ Ours</a:t>
            </a:r>
            <a:endParaRPr lang="en-US" sz="1250" dirty="0"/>
          </a:p>
        </p:txBody>
      </p:sp>
      <p:sp>
        <p:nvSpPr>
          <p:cNvPr id="32" name="Text 30"/>
          <p:cNvSpPr/>
          <p:nvPr/>
        </p:nvSpPr>
        <p:spPr>
          <a:xfrm>
            <a:off x="2971800" y="4279392"/>
            <a:ext cx="2834640" cy="292608"/>
          </a:xfrm>
          <a:prstGeom prst="rect">
            <a:avLst/>
          </a:prstGeom>
          <a:noFill/>
          <a:ln/>
        </p:spPr>
        <p:txBody>
          <a:bodyPr wrap="square" lIns="0" tIns="0" rIns="0" bIns="0" rtlCol="0" anchor="ctr"/>
          <a:lstStyle/>
          <a:p>
            <a:pPr marL="0" indent="0">
              <a:buNone/>
            </a:pPr>
            <a:r>
              <a:rPr lang="en-US" sz="1150" b="1" dirty="0">
                <a:solidFill>
                  <a:srgbClr val="2E7D32"/>
                </a:solidFill>
                <a:latin typeface="Calibri" pitchFamily="34" charset="0"/>
                <a:ea typeface="Calibri" pitchFamily="34" charset="-122"/>
                <a:cs typeface="Calibri" pitchFamily="34" charset="-120"/>
              </a:rPr>
              <a:t>✓ Full coverage + tolerates S stragglers</a:t>
            </a:r>
            <a:endParaRPr lang="en-US" sz="1150" dirty="0"/>
          </a:p>
        </p:txBody>
      </p:sp>
      <p:sp>
        <p:nvSpPr>
          <p:cNvPr id="33" name="Text 31"/>
          <p:cNvSpPr/>
          <p:nvPr/>
        </p:nvSpPr>
        <p:spPr>
          <a:xfrm>
            <a:off x="5852160" y="4279392"/>
            <a:ext cx="2926080" cy="292608"/>
          </a:xfrm>
          <a:prstGeom prst="rect">
            <a:avLst/>
          </a:prstGeom>
          <a:noFill/>
          <a:ln/>
        </p:spPr>
        <p:txBody>
          <a:bodyPr wrap="square" lIns="0" tIns="0" rIns="0" bIns="0" rtlCol="0" anchor="ctr"/>
          <a:lstStyle/>
          <a:p>
            <a:pPr marL="0" indent="0">
              <a:buNone/>
            </a:pPr>
            <a:r>
              <a:rPr lang="en-US" sz="1150" b="1" dirty="0">
                <a:solidFill>
                  <a:srgbClr val="00796B"/>
                </a:solidFill>
                <a:latin typeface="Calibri" pitchFamily="34" charset="0"/>
                <a:ea typeface="Calibri" pitchFamily="34" charset="-122"/>
                <a:cs typeface="Calibri" pitchFamily="34" charset="-120"/>
              </a:rPr>
              <a:t>→ Parity clients cover missing data — no accuracy tradeoff</a:t>
            </a:r>
            <a:endParaRPr lang="en-US" sz="1150" dirty="0"/>
          </a:p>
        </p:txBody>
      </p:sp>
      <p:sp>
        <p:nvSpPr>
          <p:cNvPr id="34" name="Text 32"/>
          <p:cNvSpPr/>
          <p:nvPr/>
        </p:nvSpPr>
        <p:spPr>
          <a:xfrm>
            <a:off x="457200" y="4645152"/>
            <a:ext cx="8321040" cy="256032"/>
          </a:xfrm>
          <a:prstGeom prst="rect">
            <a:avLst/>
          </a:prstGeom>
          <a:noFill/>
          <a:ln/>
        </p:spPr>
        <p:txBody>
          <a:bodyPr wrap="square" rtlCol="0" anchor="ctr"/>
          <a:lstStyle/>
          <a:p>
            <a:pPr marL="0" indent="0">
              <a:buNone/>
            </a:pPr>
            <a:r>
              <a:rPr lang="en-US" sz="1000" b="1" i="1" dirty="0">
                <a:solidFill>
                  <a:srgbClr val="00796B"/>
                </a:solidFill>
                <a:latin typeface="Calibri" pitchFamily="34" charset="0"/>
                <a:ea typeface="Calibri" pitchFamily="34" charset="-122"/>
                <a:cs typeface="Calibri" pitchFamily="34" charset="-120"/>
              </a:rPr>
              <a:t>Our approach: no tradeoff — parity clients guarantee full data coverage every round</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1B2A"/>
          </a:solidFill>
          <a:ln w="12700">
            <a:solidFill>
              <a:srgbClr val="0D1B2A"/>
            </a:solidFill>
            <a:prstDash val="solid"/>
          </a:ln>
        </p:spPr>
      </p:sp>
      <p:sp>
        <p:nvSpPr>
          <p:cNvPr id="3" name="Shape 1"/>
          <p:cNvSpPr/>
          <p:nvPr/>
        </p:nvSpPr>
        <p:spPr>
          <a:xfrm>
            <a:off x="0" y="658368"/>
            <a:ext cx="9144000" cy="54864"/>
          </a:xfrm>
          <a:prstGeom prst="rect">
            <a:avLst/>
          </a:prstGeom>
          <a:solidFill>
            <a:srgbClr val="1BA8C8"/>
          </a:solidFill>
          <a:ln w="12700">
            <a:solidFill>
              <a:srgbClr val="1BA8C8"/>
            </a:solidFill>
            <a:prstDash val="solid"/>
          </a:ln>
        </p:spPr>
      </p:sp>
      <p:sp>
        <p:nvSpPr>
          <p:cNvPr id="4" name="Text 2"/>
          <p:cNvSpPr/>
          <p:nvPr/>
        </p:nvSpPr>
        <p:spPr>
          <a:xfrm>
            <a:off x="274320" y="0"/>
            <a:ext cx="8595360" cy="65836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Theoretical Foundation: Erasure Coding for FL</a:t>
            </a:r>
            <a:endParaRPr lang="en-US" sz="2200" dirty="0"/>
          </a:p>
        </p:txBody>
      </p:sp>
      <p:sp>
        <p:nvSpPr>
          <p:cNvPr id="5" name="Shape 3"/>
          <p:cNvSpPr/>
          <p:nvPr/>
        </p:nvSpPr>
        <p:spPr>
          <a:xfrm>
            <a:off x="274320" y="868680"/>
            <a:ext cx="4114800" cy="4069080"/>
          </a:xfrm>
          <a:prstGeom prst="rect">
            <a:avLst/>
          </a:prstGeom>
          <a:solidFill>
            <a:srgbClr val="FFFFFF"/>
          </a:solidFill>
          <a:ln w="12700">
            <a:solidFill>
              <a:srgbClr val="D0D8E8"/>
            </a:solidFill>
            <a:prstDash val="solid"/>
          </a:ln>
          <a:effectLst>
            <a:outerShdw blurRad="76200" dist="25400" dir="8100000" algn="bl" rotWithShape="0">
              <a:srgbClr val="000000">
                <a:alpha val="8000"/>
              </a:srgbClr>
            </a:outerShdw>
          </a:effectLst>
        </p:spPr>
      </p:sp>
      <p:sp>
        <p:nvSpPr>
          <p:cNvPr id="6" name="Text 4"/>
          <p:cNvSpPr/>
          <p:nvPr/>
        </p:nvSpPr>
        <p:spPr>
          <a:xfrm>
            <a:off x="457200" y="960120"/>
            <a:ext cx="3749040" cy="411480"/>
          </a:xfrm>
          <a:prstGeom prst="rect">
            <a:avLst/>
          </a:prstGeom>
          <a:noFill/>
          <a:ln/>
        </p:spPr>
        <p:txBody>
          <a:bodyPr wrap="square" rtlCol="0" anchor="ctr"/>
          <a:lstStyle/>
          <a:p>
            <a:pPr marL="0" indent="0">
              <a:buNone/>
            </a:pPr>
            <a:r>
              <a:rPr lang="en-US" sz="1300" b="1" dirty="0">
                <a:solidFill>
                  <a:srgbClr val="1B4F8A"/>
                </a:solidFill>
                <a:latin typeface="Calibri" pitchFamily="34" charset="0"/>
                <a:ea typeface="Calibri" pitchFamily="34" charset="-122"/>
                <a:cs typeface="Calibri" pitchFamily="34" charset="-120"/>
              </a:rPr>
              <a:t>Gradient Coding (Tandon et al., ICML '17)</a:t>
            </a:r>
            <a:endParaRPr lang="en-US" sz="1300" dirty="0"/>
          </a:p>
        </p:txBody>
      </p:sp>
      <p:sp>
        <p:nvSpPr>
          <p:cNvPr id="7" name="Text 5"/>
          <p:cNvSpPr/>
          <p:nvPr/>
        </p:nvSpPr>
        <p:spPr>
          <a:xfrm>
            <a:off x="457200" y="1417320"/>
            <a:ext cx="3749040" cy="822960"/>
          </a:xfrm>
          <a:prstGeom prst="rect">
            <a:avLst/>
          </a:prstGeom>
          <a:noFill/>
          <a:ln/>
        </p:spPr>
        <p:txBody>
          <a:bodyPr wrap="square" rtlCol="0" anchor="ctr"/>
          <a:lstStyle/>
          <a:p>
            <a:pPr marL="0" indent="0">
              <a:buNone/>
            </a:pPr>
            <a:r>
              <a:rPr lang="en-US" sz="1200" dirty="0">
                <a:solidFill>
                  <a:srgbClr val="333333"/>
                </a:solidFill>
                <a:latin typeface="Calibri" pitchFamily="34" charset="0"/>
                <a:ea typeface="Calibri" pitchFamily="34" charset="-122"/>
                <a:cs typeface="Calibri" pitchFamily="34" charset="-120"/>
              </a:rPr>
              <a:t>Treat stragglers as erasures in an error-correcting code framework. Encode gradient vectors so any K-of-N responses reconstruct the full batch gradient.</a:t>
            </a:r>
            <a:endParaRPr lang="en-US" sz="1200" dirty="0"/>
          </a:p>
        </p:txBody>
      </p:sp>
      <p:sp>
        <p:nvSpPr>
          <p:cNvPr id="8" name="Shape 6"/>
          <p:cNvSpPr/>
          <p:nvPr/>
        </p:nvSpPr>
        <p:spPr>
          <a:xfrm>
            <a:off x="457200" y="2331720"/>
            <a:ext cx="3749040" cy="411480"/>
          </a:xfrm>
          <a:prstGeom prst="rect">
            <a:avLst/>
          </a:prstGeom>
          <a:solidFill>
            <a:srgbClr val="EBF4FF"/>
          </a:solidFill>
          <a:ln w="12700">
            <a:solidFill>
              <a:srgbClr val="C5DEFF"/>
            </a:solidFill>
            <a:prstDash val="solid"/>
          </a:ln>
        </p:spPr>
      </p:sp>
      <p:sp>
        <p:nvSpPr>
          <p:cNvPr id="9" name="Text 7"/>
          <p:cNvSpPr/>
          <p:nvPr/>
        </p:nvSpPr>
        <p:spPr>
          <a:xfrm>
            <a:off x="502920" y="2331720"/>
            <a:ext cx="3657600" cy="411480"/>
          </a:xfrm>
          <a:prstGeom prst="rect">
            <a:avLst/>
          </a:prstGeom>
          <a:noFill/>
          <a:ln/>
        </p:spPr>
        <p:txBody>
          <a:bodyPr wrap="square"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Systematic (10, 7) Code  →  tolerates S = 3 stragglers</a:t>
            </a:r>
            <a:endParaRPr lang="en-US" sz="1200" dirty="0"/>
          </a:p>
        </p:txBody>
      </p:sp>
      <p:sp>
        <p:nvSpPr>
          <p:cNvPr id="10" name="Text 8"/>
          <p:cNvSpPr/>
          <p:nvPr/>
        </p:nvSpPr>
        <p:spPr>
          <a:xfrm>
            <a:off x="457200" y="2880360"/>
            <a:ext cx="3749040" cy="274320"/>
          </a:xfrm>
          <a:prstGeom prst="rect">
            <a:avLst/>
          </a:prstGeom>
          <a:noFill/>
          <a:ln/>
        </p:spPr>
        <p:txBody>
          <a:bodyPr wrap="square" rtlCol="0" anchor="ctr"/>
          <a:lstStyle/>
          <a:p>
            <a:pPr marL="0" indent="0">
              <a:buNone/>
            </a:pPr>
            <a:r>
              <a:rPr lang="en-US" sz="1200" b="1" dirty="0">
                <a:solidFill>
                  <a:srgbClr val="333333"/>
                </a:solidFill>
                <a:latin typeface="Calibri" pitchFamily="34" charset="0"/>
                <a:ea typeface="Calibri" pitchFamily="34" charset="-122"/>
                <a:cs typeface="Calibri" pitchFamily="34" charset="-120"/>
              </a:rPr>
              <a:t>Parity client update:</a:t>
            </a:r>
            <a:endParaRPr lang="en-US" sz="1200" dirty="0"/>
          </a:p>
        </p:txBody>
      </p:sp>
      <p:sp>
        <p:nvSpPr>
          <p:cNvPr id="11" name="Shape 9"/>
          <p:cNvSpPr/>
          <p:nvPr/>
        </p:nvSpPr>
        <p:spPr>
          <a:xfrm>
            <a:off x="457200" y="3200400"/>
            <a:ext cx="3749040" cy="640080"/>
          </a:xfrm>
          <a:prstGeom prst="rect">
            <a:avLst/>
          </a:prstGeom>
          <a:solidFill>
            <a:srgbClr val="F0F4FF"/>
          </a:solidFill>
          <a:ln w="12700">
            <a:solidFill>
              <a:srgbClr val="C5DEFF"/>
            </a:solidFill>
            <a:prstDash val="solid"/>
          </a:ln>
        </p:spPr>
      </p:sp>
      <p:sp>
        <p:nvSpPr>
          <p:cNvPr id="12" name="Text 10"/>
          <p:cNvSpPr/>
          <p:nvPr/>
        </p:nvSpPr>
        <p:spPr>
          <a:xfrm>
            <a:off x="548640" y="3218688"/>
            <a:ext cx="3566160" cy="603504"/>
          </a:xfrm>
          <a:prstGeom prst="rect">
            <a:avLst/>
          </a:prstGeom>
          <a:noFill/>
          <a:ln/>
        </p:spPr>
        <p:txBody>
          <a:bodyPr wrap="square" rtlCol="0" anchor="ctr"/>
          <a:lstStyle/>
          <a:p>
            <a:pPr marL="0" indent="0">
              <a:buNone/>
            </a:pPr>
            <a:r>
              <a:rPr lang="en-US" sz="1050" dirty="0">
                <a:solidFill>
                  <a:srgbClr val="0D1B2A"/>
                </a:solidFill>
                <a:latin typeface="Consolas" pitchFamily="34" charset="0"/>
                <a:ea typeface="Consolas" pitchFamily="34" charset="-122"/>
                <a:cs typeface="Consolas" pitchFamily="34" charset="-120"/>
              </a:rPr>
              <a:t>β_j = (|D_j| / |D_j|+|D_φ(j)|) · β_primary</a:t>
            </a:r>
            <a:endParaRPr lang="en-US" sz="1050" dirty="0"/>
          </a:p>
          <a:p>
            <a:pPr marL="0" indent="0">
              <a:buNone/>
            </a:pPr>
            <a:r>
              <a:rPr lang="en-US" sz="1050" dirty="0">
                <a:solidFill>
                  <a:srgbClr val="0D1B2A"/>
                </a:solidFill>
                <a:latin typeface="Consolas" pitchFamily="34" charset="0"/>
                <a:ea typeface="Consolas" pitchFamily="34" charset="-122"/>
                <a:cs typeface="Consolas" pitchFamily="34" charset="-120"/>
              </a:rPr>
              <a:t>     + (|D_φ(j)| / |D_j|+|D_φ(j)|) · β_backup</a:t>
            </a:r>
            <a:endParaRPr lang="en-US" sz="1050" dirty="0"/>
          </a:p>
        </p:txBody>
      </p:sp>
      <p:sp>
        <p:nvSpPr>
          <p:cNvPr id="13" name="Text 11"/>
          <p:cNvSpPr/>
          <p:nvPr/>
        </p:nvSpPr>
        <p:spPr>
          <a:xfrm>
            <a:off x="457200" y="3931920"/>
            <a:ext cx="3749040" cy="274320"/>
          </a:xfrm>
          <a:prstGeom prst="rect">
            <a:avLst/>
          </a:prstGeom>
          <a:noFill/>
          <a:ln/>
        </p:spPr>
        <p:txBody>
          <a:bodyPr wrap="square" rtlCol="0" anchor="ctr"/>
          <a:lstStyle/>
          <a:p>
            <a:pPr marL="0" indent="0">
              <a:buNone/>
            </a:pPr>
            <a:r>
              <a:rPr lang="en-US" sz="1200" b="1" dirty="0">
                <a:solidFill>
                  <a:srgbClr val="333333"/>
                </a:solidFill>
                <a:latin typeface="Calibri" pitchFamily="34" charset="0"/>
                <a:ea typeface="Calibri" pitchFamily="34" charset="-122"/>
                <a:cs typeface="Calibri" pitchFamily="34" charset="-120"/>
              </a:rPr>
              <a:t>Fault tolerance guarantee:</a:t>
            </a:r>
            <a:endParaRPr lang="en-US" sz="1200" dirty="0"/>
          </a:p>
        </p:txBody>
      </p:sp>
      <p:sp>
        <p:nvSpPr>
          <p:cNvPr id="14" name="Text 12"/>
          <p:cNvSpPr/>
          <p:nvPr/>
        </p:nvSpPr>
        <p:spPr>
          <a:xfrm>
            <a:off x="457200" y="4251960"/>
            <a:ext cx="3749040" cy="548640"/>
          </a:xfrm>
          <a:prstGeom prst="rect">
            <a:avLst/>
          </a:prstGeom>
          <a:noFill/>
          <a:ln/>
        </p:spPr>
        <p:txBody>
          <a:bodyPr wrap="square" rtlCol="0" anchor="ctr"/>
          <a:lstStyle/>
          <a:p>
            <a:pPr marL="0" indent="0">
              <a:buNone/>
            </a:pPr>
            <a:r>
              <a:rPr lang="en-US" sz="1050" dirty="0">
                <a:solidFill>
                  <a:srgbClr val="0D1B2A"/>
                </a:solidFill>
                <a:latin typeface="Consolas" pitchFamily="34" charset="0"/>
                <a:ea typeface="Consolas" pitchFamily="34" charset="-122"/>
                <a:cs typeface="Consolas" pitchFamily="34" charset="-120"/>
              </a:rPr>
              <a:t>∪ₖ∈R(t) partitions(k) = {D₀, …, D_N-1}  for any |F| ≤ S</a:t>
            </a:r>
            <a:endParaRPr lang="en-US" sz="1050" dirty="0"/>
          </a:p>
        </p:txBody>
      </p:sp>
      <p:sp>
        <p:nvSpPr>
          <p:cNvPr id="15" name="Shape 13"/>
          <p:cNvSpPr/>
          <p:nvPr/>
        </p:nvSpPr>
        <p:spPr>
          <a:xfrm>
            <a:off x="4617720" y="868680"/>
            <a:ext cx="4251960" cy="4069080"/>
          </a:xfrm>
          <a:prstGeom prst="rect">
            <a:avLst/>
          </a:prstGeom>
          <a:solidFill>
            <a:srgbClr val="FFFFFF"/>
          </a:solidFill>
          <a:ln w="12700">
            <a:solidFill>
              <a:srgbClr val="D0D8E8"/>
            </a:solidFill>
            <a:prstDash val="solid"/>
          </a:ln>
          <a:effectLst>
            <a:outerShdw blurRad="76200" dist="25400" dir="8100000" algn="bl" rotWithShape="0">
              <a:srgbClr val="000000">
                <a:alpha val="8000"/>
              </a:srgbClr>
            </a:outerShdw>
          </a:effectLst>
        </p:spPr>
      </p:sp>
      <p:sp>
        <p:nvSpPr>
          <p:cNvPr id="16" name="Text 14"/>
          <p:cNvSpPr/>
          <p:nvPr/>
        </p:nvSpPr>
        <p:spPr>
          <a:xfrm>
            <a:off x="4754880" y="960120"/>
            <a:ext cx="3931920" cy="365760"/>
          </a:xfrm>
          <a:prstGeom prst="rect">
            <a:avLst/>
          </a:prstGeom>
          <a:noFill/>
          <a:ln/>
        </p:spPr>
        <p:txBody>
          <a:bodyPr wrap="square" rtlCol="0" anchor="ctr"/>
          <a:lstStyle/>
          <a:p>
            <a:pPr marL="0" indent="0">
              <a:buNone/>
            </a:pPr>
            <a:r>
              <a:rPr lang="en-US" sz="1300" b="1" dirty="0">
                <a:solidFill>
                  <a:srgbClr val="1B4F8A"/>
                </a:solidFill>
                <a:latin typeface="Calibri" pitchFamily="34" charset="0"/>
                <a:ea typeface="Calibri" pitchFamily="34" charset="-122"/>
                <a:cs typeface="Calibri" pitchFamily="34" charset="-120"/>
              </a:rPr>
              <a:t>Client Roles (N=10, K=7, S=3)</a:t>
            </a:r>
            <a:endParaRPr lang="en-US" sz="1300" dirty="0"/>
          </a:p>
        </p:txBody>
      </p:sp>
      <p:sp>
        <p:nvSpPr>
          <p:cNvPr id="17" name="Shape 15"/>
          <p:cNvSpPr/>
          <p:nvPr/>
        </p:nvSpPr>
        <p:spPr>
          <a:xfrm>
            <a:off x="4754880" y="1463040"/>
            <a:ext cx="3931920" cy="960120"/>
          </a:xfrm>
          <a:prstGeom prst="rect">
            <a:avLst/>
          </a:prstGeom>
          <a:solidFill>
            <a:srgbClr val="F8FAFF"/>
          </a:solidFill>
          <a:ln w="12700">
            <a:solidFill>
              <a:srgbClr val="D8E4F5"/>
            </a:solidFill>
            <a:prstDash val="solid"/>
          </a:ln>
        </p:spPr>
      </p:sp>
      <p:sp>
        <p:nvSpPr>
          <p:cNvPr id="18" name="Shape 16"/>
          <p:cNvSpPr/>
          <p:nvPr/>
        </p:nvSpPr>
        <p:spPr>
          <a:xfrm>
            <a:off x="4754880" y="1463040"/>
            <a:ext cx="82296" cy="960120"/>
          </a:xfrm>
          <a:prstGeom prst="rect">
            <a:avLst/>
          </a:prstGeom>
          <a:solidFill>
            <a:srgbClr val="E87B35"/>
          </a:solidFill>
          <a:ln w="12700">
            <a:solidFill>
              <a:srgbClr val="E87B35"/>
            </a:solidFill>
            <a:prstDash val="solid"/>
          </a:ln>
        </p:spPr>
      </p:sp>
      <p:sp>
        <p:nvSpPr>
          <p:cNvPr id="19" name="Text 17"/>
          <p:cNvSpPr/>
          <p:nvPr/>
        </p:nvSpPr>
        <p:spPr>
          <a:xfrm>
            <a:off x="4892040" y="1499616"/>
            <a:ext cx="1828800" cy="320040"/>
          </a:xfrm>
          <a:prstGeom prst="rect">
            <a:avLst/>
          </a:prstGeom>
          <a:noFill/>
          <a:ln/>
        </p:spPr>
        <p:txBody>
          <a:bodyPr wrap="square"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Clients 0–2</a:t>
            </a:r>
            <a:endParaRPr lang="en-US" sz="1200" dirty="0"/>
          </a:p>
        </p:txBody>
      </p:sp>
      <p:sp>
        <p:nvSpPr>
          <p:cNvPr id="20" name="Text 18"/>
          <p:cNvSpPr/>
          <p:nvPr/>
        </p:nvSpPr>
        <p:spPr>
          <a:xfrm>
            <a:off x="4892040" y="1810512"/>
            <a:ext cx="3657600" cy="274320"/>
          </a:xfrm>
          <a:prstGeom prst="rect">
            <a:avLst/>
          </a:prstGeom>
          <a:noFill/>
          <a:ln/>
        </p:spPr>
        <p:txBody>
          <a:bodyPr wrap="square" rtlCol="0" anchor="ctr"/>
          <a:lstStyle/>
          <a:p>
            <a:pPr marL="0" indent="0">
              <a:buNone/>
            </a:pPr>
            <a:r>
              <a:rPr lang="en-US" sz="1150" b="1" dirty="0">
                <a:solidFill>
                  <a:srgbClr val="E87B35"/>
                </a:solidFill>
                <a:latin typeface="Calibri" pitchFamily="34" charset="0"/>
                <a:ea typeface="Calibri" pitchFamily="34" charset="-122"/>
                <a:cs typeface="Calibri" pitchFamily="34" charset="-120"/>
              </a:rPr>
              <a:t>Straggler-Prone</a:t>
            </a:r>
            <a:endParaRPr lang="en-US" sz="1150" dirty="0"/>
          </a:p>
        </p:txBody>
      </p:sp>
      <p:sp>
        <p:nvSpPr>
          <p:cNvPr id="21" name="Text 19"/>
          <p:cNvSpPr/>
          <p:nvPr/>
        </p:nvSpPr>
        <p:spPr>
          <a:xfrm>
            <a:off x="4892040" y="2075688"/>
            <a:ext cx="3657600" cy="320040"/>
          </a:xfrm>
          <a:prstGeom prst="rect">
            <a:avLst/>
          </a:prstGeom>
          <a:noFill/>
          <a:ln/>
        </p:spPr>
        <p:txBody>
          <a:bodyPr wrap="square" rtlCol="0" anchor="ctr"/>
          <a:lstStyle/>
          <a:p>
            <a:pPr marL="0" indent="0">
              <a:buNone/>
            </a:pPr>
            <a:r>
              <a:rPr lang="en-US" sz="1050" dirty="0">
                <a:solidFill>
                  <a:srgbClr val="555555"/>
                </a:solidFill>
                <a:latin typeface="Calibri" pitchFamily="34" charset="0"/>
                <a:ea typeface="Calibri" pitchFamily="34" charset="-122"/>
                <a:cs typeface="Calibri" pitchFamily="34" charset="-120"/>
              </a:rPr>
              <a:t>Primary partition only</a:t>
            </a:r>
            <a:endParaRPr lang="en-US" sz="1050" dirty="0"/>
          </a:p>
        </p:txBody>
      </p:sp>
      <p:sp>
        <p:nvSpPr>
          <p:cNvPr id="22" name="Shape 20"/>
          <p:cNvSpPr/>
          <p:nvPr/>
        </p:nvSpPr>
        <p:spPr>
          <a:xfrm>
            <a:off x="4754880" y="2560320"/>
            <a:ext cx="3931920" cy="960120"/>
          </a:xfrm>
          <a:prstGeom prst="rect">
            <a:avLst/>
          </a:prstGeom>
          <a:solidFill>
            <a:srgbClr val="F8FAFF"/>
          </a:solidFill>
          <a:ln w="12700">
            <a:solidFill>
              <a:srgbClr val="D8E4F5"/>
            </a:solidFill>
            <a:prstDash val="solid"/>
          </a:ln>
        </p:spPr>
      </p:sp>
      <p:sp>
        <p:nvSpPr>
          <p:cNvPr id="23" name="Shape 21"/>
          <p:cNvSpPr/>
          <p:nvPr/>
        </p:nvSpPr>
        <p:spPr>
          <a:xfrm>
            <a:off x="4754880" y="2560320"/>
            <a:ext cx="82296" cy="960120"/>
          </a:xfrm>
          <a:prstGeom prst="rect">
            <a:avLst/>
          </a:prstGeom>
          <a:solidFill>
            <a:srgbClr val="1B4F8A"/>
          </a:solidFill>
          <a:ln w="12700">
            <a:solidFill>
              <a:srgbClr val="1B4F8A"/>
            </a:solidFill>
            <a:prstDash val="solid"/>
          </a:ln>
        </p:spPr>
      </p:sp>
      <p:sp>
        <p:nvSpPr>
          <p:cNvPr id="24" name="Text 22"/>
          <p:cNvSpPr/>
          <p:nvPr/>
        </p:nvSpPr>
        <p:spPr>
          <a:xfrm>
            <a:off x="4892040" y="2596896"/>
            <a:ext cx="1828800" cy="320040"/>
          </a:xfrm>
          <a:prstGeom prst="rect">
            <a:avLst/>
          </a:prstGeom>
          <a:noFill/>
          <a:ln/>
        </p:spPr>
        <p:txBody>
          <a:bodyPr wrap="square"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Clients 3–6</a:t>
            </a:r>
            <a:endParaRPr lang="en-US" sz="1200" dirty="0"/>
          </a:p>
        </p:txBody>
      </p:sp>
      <p:sp>
        <p:nvSpPr>
          <p:cNvPr id="25" name="Text 23"/>
          <p:cNvSpPr/>
          <p:nvPr/>
        </p:nvSpPr>
        <p:spPr>
          <a:xfrm>
            <a:off x="4892040" y="2907792"/>
            <a:ext cx="3657600" cy="274320"/>
          </a:xfrm>
          <a:prstGeom prst="rect">
            <a:avLst/>
          </a:prstGeom>
          <a:noFill/>
          <a:ln/>
        </p:spPr>
        <p:txBody>
          <a:bodyPr wrap="square" rtlCol="0" anchor="ctr"/>
          <a:lstStyle/>
          <a:p>
            <a:pPr marL="0" indent="0">
              <a:buNone/>
            </a:pPr>
            <a:r>
              <a:rPr lang="en-US" sz="1150" b="1" dirty="0">
                <a:solidFill>
                  <a:srgbClr val="1B4F8A"/>
                </a:solidFill>
                <a:latin typeface="Calibri" pitchFamily="34" charset="0"/>
                <a:ea typeface="Calibri" pitchFamily="34" charset="-122"/>
                <a:cs typeface="Calibri" pitchFamily="34" charset="-120"/>
              </a:rPr>
              <a:t>Systematic</a:t>
            </a:r>
            <a:endParaRPr lang="en-US" sz="1150" dirty="0"/>
          </a:p>
        </p:txBody>
      </p:sp>
      <p:sp>
        <p:nvSpPr>
          <p:cNvPr id="26" name="Text 24"/>
          <p:cNvSpPr/>
          <p:nvPr/>
        </p:nvSpPr>
        <p:spPr>
          <a:xfrm>
            <a:off x="4892040" y="3172968"/>
            <a:ext cx="3657600" cy="320040"/>
          </a:xfrm>
          <a:prstGeom prst="rect">
            <a:avLst/>
          </a:prstGeom>
          <a:noFill/>
          <a:ln/>
        </p:spPr>
        <p:txBody>
          <a:bodyPr wrap="square" rtlCol="0" anchor="ctr"/>
          <a:lstStyle/>
          <a:p>
            <a:pPr marL="0" indent="0">
              <a:buNone/>
            </a:pPr>
            <a:r>
              <a:rPr lang="en-US" sz="1050" dirty="0">
                <a:solidFill>
                  <a:srgbClr val="555555"/>
                </a:solidFill>
                <a:latin typeface="Calibri" pitchFamily="34" charset="0"/>
                <a:ea typeface="Calibri" pitchFamily="34" charset="-122"/>
                <a:cs typeface="Calibri" pitchFamily="34" charset="-120"/>
              </a:rPr>
              <a:t>Primary partition only</a:t>
            </a:r>
            <a:endParaRPr lang="en-US" sz="1050" dirty="0"/>
          </a:p>
        </p:txBody>
      </p:sp>
      <p:sp>
        <p:nvSpPr>
          <p:cNvPr id="27" name="Shape 25"/>
          <p:cNvSpPr/>
          <p:nvPr/>
        </p:nvSpPr>
        <p:spPr>
          <a:xfrm>
            <a:off x="4754880" y="3657600"/>
            <a:ext cx="3931920" cy="960120"/>
          </a:xfrm>
          <a:prstGeom prst="rect">
            <a:avLst/>
          </a:prstGeom>
          <a:solidFill>
            <a:srgbClr val="F8FAFF"/>
          </a:solidFill>
          <a:ln w="12700">
            <a:solidFill>
              <a:srgbClr val="D8E4F5"/>
            </a:solidFill>
            <a:prstDash val="solid"/>
          </a:ln>
        </p:spPr>
      </p:sp>
      <p:sp>
        <p:nvSpPr>
          <p:cNvPr id="28" name="Shape 26"/>
          <p:cNvSpPr/>
          <p:nvPr/>
        </p:nvSpPr>
        <p:spPr>
          <a:xfrm>
            <a:off x="4754880" y="3657600"/>
            <a:ext cx="82296" cy="960120"/>
          </a:xfrm>
          <a:prstGeom prst="rect">
            <a:avLst/>
          </a:prstGeom>
          <a:solidFill>
            <a:srgbClr val="2EAA6E"/>
          </a:solidFill>
          <a:ln w="12700">
            <a:solidFill>
              <a:srgbClr val="2EAA6E"/>
            </a:solidFill>
            <a:prstDash val="solid"/>
          </a:ln>
        </p:spPr>
      </p:sp>
      <p:sp>
        <p:nvSpPr>
          <p:cNvPr id="29" name="Text 27"/>
          <p:cNvSpPr/>
          <p:nvPr/>
        </p:nvSpPr>
        <p:spPr>
          <a:xfrm>
            <a:off x="4892040" y="3694176"/>
            <a:ext cx="1828800" cy="320040"/>
          </a:xfrm>
          <a:prstGeom prst="rect">
            <a:avLst/>
          </a:prstGeom>
          <a:noFill/>
          <a:ln/>
        </p:spPr>
        <p:txBody>
          <a:bodyPr wrap="square"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Clients 7–9</a:t>
            </a:r>
            <a:endParaRPr lang="en-US" sz="1200" dirty="0"/>
          </a:p>
        </p:txBody>
      </p:sp>
      <p:sp>
        <p:nvSpPr>
          <p:cNvPr id="30" name="Text 28"/>
          <p:cNvSpPr/>
          <p:nvPr/>
        </p:nvSpPr>
        <p:spPr>
          <a:xfrm>
            <a:off x="4892040" y="4005072"/>
            <a:ext cx="3657600" cy="274320"/>
          </a:xfrm>
          <a:prstGeom prst="rect">
            <a:avLst/>
          </a:prstGeom>
          <a:noFill/>
          <a:ln/>
        </p:spPr>
        <p:txBody>
          <a:bodyPr wrap="square" rtlCol="0" anchor="ctr"/>
          <a:lstStyle/>
          <a:p>
            <a:pPr marL="0" indent="0">
              <a:buNone/>
            </a:pPr>
            <a:r>
              <a:rPr lang="en-US" sz="1150" b="1" dirty="0">
                <a:solidFill>
                  <a:srgbClr val="2EAA6E"/>
                </a:solidFill>
                <a:latin typeface="Calibri" pitchFamily="34" charset="0"/>
                <a:ea typeface="Calibri" pitchFamily="34" charset="-122"/>
                <a:cs typeface="Calibri" pitchFamily="34" charset="-120"/>
              </a:rPr>
              <a:t>Parity</a:t>
            </a:r>
            <a:endParaRPr lang="en-US" sz="1150" dirty="0"/>
          </a:p>
        </p:txBody>
      </p:sp>
      <p:sp>
        <p:nvSpPr>
          <p:cNvPr id="31" name="Text 29"/>
          <p:cNvSpPr/>
          <p:nvPr/>
        </p:nvSpPr>
        <p:spPr>
          <a:xfrm>
            <a:off x="4892040" y="4270248"/>
            <a:ext cx="3657600" cy="320040"/>
          </a:xfrm>
          <a:prstGeom prst="rect">
            <a:avLst/>
          </a:prstGeom>
          <a:noFill/>
          <a:ln/>
        </p:spPr>
        <p:txBody>
          <a:bodyPr wrap="square" rtlCol="0" anchor="ctr"/>
          <a:lstStyle/>
          <a:p>
            <a:pPr marL="0" indent="0">
              <a:buNone/>
            </a:pPr>
            <a:r>
              <a:rPr lang="en-US" sz="1050" dirty="0">
                <a:solidFill>
                  <a:srgbClr val="555555"/>
                </a:solidFill>
                <a:latin typeface="Calibri" pitchFamily="34" charset="0"/>
                <a:ea typeface="Calibri" pitchFamily="34" charset="-122"/>
                <a:cs typeface="Calibri" pitchFamily="34" charset="-120"/>
              </a:rPr>
              <a:t>Primary + backup partition</a:t>
            </a:r>
            <a:endParaRPr lang="en-US" sz="1050" dirty="0"/>
          </a:p>
          <a:p>
            <a:pPr marL="0" indent="0">
              <a:buNone/>
            </a:pPr>
            <a:r>
              <a:rPr lang="en-US" sz="1050" dirty="0">
                <a:solidFill>
                  <a:srgbClr val="555555"/>
                </a:solidFill>
                <a:latin typeface="Calibri" pitchFamily="34" charset="0"/>
                <a:ea typeface="Calibri" pitchFamily="34" charset="-122"/>
                <a:cs typeface="Calibri" pitchFamily="34" charset="-120"/>
              </a:rPr>
              <a:t>(trains 2 partitions per round)</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620" y="0"/>
            <a:ext cx="9144000" cy="749808"/>
          </a:xfrm>
          <a:prstGeom prst="rect">
            <a:avLst/>
          </a:prstGeom>
          <a:solidFill>
            <a:srgbClr val="0D1B2A"/>
          </a:solidFill>
          <a:ln/>
        </p:spPr>
      </p:sp>
      <p:sp>
        <p:nvSpPr>
          <p:cNvPr id="3" name="Shape 1"/>
          <p:cNvSpPr/>
          <p:nvPr/>
        </p:nvSpPr>
        <p:spPr>
          <a:xfrm>
            <a:off x="0" y="749808"/>
            <a:ext cx="9144000" cy="50292"/>
          </a:xfrm>
          <a:prstGeom prst="rect">
            <a:avLst/>
          </a:prstGeom>
          <a:solidFill>
            <a:srgbClr val="1565C0"/>
          </a:solidFill>
          <a:ln/>
        </p:spPr>
      </p:sp>
      <p:sp>
        <p:nvSpPr>
          <p:cNvPr id="4" name="Text 2"/>
          <p:cNvSpPr/>
          <p:nvPr/>
        </p:nvSpPr>
        <p:spPr>
          <a:xfrm>
            <a:off x="320040" y="54864"/>
            <a:ext cx="8503920" cy="64008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System Architecture </a:t>
            </a:r>
            <a:endParaRPr lang="en-US" sz="2600" dirty="0"/>
          </a:p>
        </p:txBody>
      </p:sp>
      <p:sp>
        <p:nvSpPr>
          <p:cNvPr id="6" name="Shape 3"/>
          <p:cNvSpPr/>
          <p:nvPr/>
        </p:nvSpPr>
        <p:spPr>
          <a:xfrm>
            <a:off x="292608" y="3730752"/>
            <a:ext cx="2651760" cy="694944"/>
          </a:xfrm>
          <a:prstGeom prst="rect">
            <a:avLst/>
          </a:prstGeom>
          <a:solidFill>
            <a:srgbClr val="C62828"/>
          </a:solidFill>
          <a:ln/>
          <a:effectLst>
            <a:outerShdw blurRad="50800" dist="25400" dir="8100000" algn="bl" rotWithShape="0">
              <a:srgbClr val="000000">
                <a:alpha val="18000"/>
              </a:srgbClr>
            </a:outerShdw>
          </a:effectLst>
        </p:spPr>
      </p:sp>
      <p:sp>
        <p:nvSpPr>
          <p:cNvPr id="7" name="Text 4"/>
          <p:cNvSpPr/>
          <p:nvPr/>
        </p:nvSpPr>
        <p:spPr>
          <a:xfrm>
            <a:off x="384048" y="3785616"/>
            <a:ext cx="2514600" cy="27432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Straggler clients</a:t>
            </a:r>
            <a:endParaRPr lang="en-US" sz="1200" dirty="0"/>
          </a:p>
        </p:txBody>
      </p:sp>
      <p:sp>
        <p:nvSpPr>
          <p:cNvPr id="8" name="Text 5"/>
          <p:cNvSpPr/>
          <p:nvPr/>
        </p:nvSpPr>
        <p:spPr>
          <a:xfrm>
            <a:off x="384048" y="4078224"/>
            <a:ext cx="2514600" cy="29260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Miss deadline → MISS</a:t>
            </a:r>
            <a:endParaRPr lang="en-US" sz="1050" dirty="0"/>
          </a:p>
        </p:txBody>
      </p:sp>
      <p:sp>
        <p:nvSpPr>
          <p:cNvPr id="9" name="Shape 6"/>
          <p:cNvSpPr/>
          <p:nvPr/>
        </p:nvSpPr>
        <p:spPr>
          <a:xfrm>
            <a:off x="3127248" y="3730752"/>
            <a:ext cx="2651760" cy="694944"/>
          </a:xfrm>
          <a:prstGeom prst="rect">
            <a:avLst/>
          </a:prstGeom>
          <a:solidFill>
            <a:srgbClr val="00796B"/>
          </a:solidFill>
          <a:ln/>
          <a:effectLst>
            <a:outerShdw blurRad="50800" dist="25400" dir="8100000" algn="bl" rotWithShape="0">
              <a:srgbClr val="000000">
                <a:alpha val="18000"/>
              </a:srgbClr>
            </a:outerShdw>
          </a:effectLst>
        </p:spPr>
      </p:sp>
      <p:sp>
        <p:nvSpPr>
          <p:cNvPr id="10" name="Text 7"/>
          <p:cNvSpPr/>
          <p:nvPr/>
        </p:nvSpPr>
        <p:spPr>
          <a:xfrm>
            <a:off x="3218688" y="3785616"/>
            <a:ext cx="2514600" cy="27432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Systematic clients</a:t>
            </a:r>
            <a:endParaRPr lang="en-US" sz="1200" dirty="0"/>
          </a:p>
        </p:txBody>
      </p:sp>
      <p:sp>
        <p:nvSpPr>
          <p:cNvPr id="11" name="Text 8"/>
          <p:cNvSpPr/>
          <p:nvPr/>
        </p:nvSpPr>
        <p:spPr>
          <a:xfrm>
            <a:off x="3218688" y="4078224"/>
            <a:ext cx="2514600" cy="29260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Upload normal updates</a:t>
            </a:r>
            <a:endParaRPr lang="en-US" sz="1050" dirty="0"/>
          </a:p>
        </p:txBody>
      </p:sp>
      <p:sp>
        <p:nvSpPr>
          <p:cNvPr id="12" name="Shape 9"/>
          <p:cNvSpPr/>
          <p:nvPr/>
        </p:nvSpPr>
        <p:spPr>
          <a:xfrm>
            <a:off x="5961888" y="3730752"/>
            <a:ext cx="2651760" cy="694944"/>
          </a:xfrm>
          <a:prstGeom prst="rect">
            <a:avLst/>
          </a:prstGeom>
          <a:solidFill>
            <a:srgbClr val="1565C0"/>
          </a:solidFill>
          <a:ln/>
          <a:effectLst>
            <a:outerShdw blurRad="50800" dist="25400" dir="8100000" algn="bl" rotWithShape="0">
              <a:srgbClr val="000000">
                <a:alpha val="18000"/>
              </a:srgbClr>
            </a:outerShdw>
          </a:effectLst>
        </p:spPr>
      </p:sp>
      <p:sp>
        <p:nvSpPr>
          <p:cNvPr id="13" name="Text 10"/>
          <p:cNvSpPr/>
          <p:nvPr/>
        </p:nvSpPr>
        <p:spPr>
          <a:xfrm>
            <a:off x="6053328" y="3785616"/>
            <a:ext cx="2514600" cy="27432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Parity clients</a:t>
            </a:r>
            <a:endParaRPr lang="en-US" sz="1200" dirty="0"/>
          </a:p>
        </p:txBody>
      </p:sp>
      <p:sp>
        <p:nvSpPr>
          <p:cNvPr id="14" name="Text 11"/>
          <p:cNvSpPr/>
          <p:nvPr/>
        </p:nvSpPr>
        <p:spPr>
          <a:xfrm>
            <a:off x="6053328" y="4078224"/>
            <a:ext cx="2514600" cy="29260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Upload coded updates (2 partitions)</a:t>
            </a:r>
            <a:endParaRPr lang="en-US" sz="1050" dirty="0"/>
          </a:p>
        </p:txBody>
      </p:sp>
      <p:pic>
        <p:nvPicPr>
          <p:cNvPr id="20" name="Picture 19">
            <a:extLst>
              <a:ext uri="{FF2B5EF4-FFF2-40B4-BE49-F238E27FC236}">
                <a16:creationId xmlns:a16="http://schemas.microsoft.com/office/drawing/2014/main" id="{215B28AC-A9F8-C753-3637-303D9A372083}"/>
              </a:ext>
            </a:extLst>
          </p:cNvPr>
          <p:cNvPicPr>
            <a:picLocks noChangeAspect="1"/>
          </p:cNvPicPr>
          <p:nvPr/>
        </p:nvPicPr>
        <p:blipFill>
          <a:blip r:embed="rId3"/>
          <a:stretch>
            <a:fillRect/>
          </a:stretch>
        </p:blipFill>
        <p:spPr>
          <a:xfrm>
            <a:off x="265176" y="1147395"/>
            <a:ext cx="8613648" cy="223606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0D1B2A"/>
          </a:solidFill>
          <a:ln/>
        </p:spPr>
      </p:sp>
      <p:sp>
        <p:nvSpPr>
          <p:cNvPr id="3" name="Shape 1"/>
          <p:cNvSpPr/>
          <p:nvPr/>
        </p:nvSpPr>
        <p:spPr>
          <a:xfrm>
            <a:off x="0" y="749808"/>
            <a:ext cx="9144000" cy="50292"/>
          </a:xfrm>
          <a:prstGeom prst="rect">
            <a:avLst/>
          </a:prstGeom>
          <a:solidFill>
            <a:srgbClr val="1565C0"/>
          </a:solidFill>
          <a:ln/>
        </p:spPr>
      </p:sp>
      <p:sp>
        <p:nvSpPr>
          <p:cNvPr id="4" name="Text 2"/>
          <p:cNvSpPr/>
          <p:nvPr/>
        </p:nvSpPr>
        <p:spPr>
          <a:xfrm>
            <a:off x="320040" y="54864"/>
            <a:ext cx="8503920" cy="64008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Parity Client Update — The Math</a:t>
            </a:r>
            <a:endParaRPr lang="en-US" sz="2600" dirty="0"/>
          </a:p>
        </p:txBody>
      </p:sp>
      <p:sp>
        <p:nvSpPr>
          <p:cNvPr id="5" name="Text 3"/>
          <p:cNvSpPr/>
          <p:nvPr/>
        </p:nvSpPr>
        <p:spPr>
          <a:xfrm>
            <a:off x="320040" y="868680"/>
            <a:ext cx="8503920" cy="384048"/>
          </a:xfrm>
          <a:prstGeom prst="rect">
            <a:avLst/>
          </a:prstGeom>
          <a:noFill/>
          <a:ln/>
        </p:spPr>
        <p:txBody>
          <a:bodyPr wrap="square" rtlCol="0" anchor="ctr"/>
          <a:lstStyle/>
          <a:p>
            <a:pPr marL="0" indent="0">
              <a:buNone/>
            </a:pPr>
            <a:r>
              <a:rPr lang="en-US" sz="1400" dirty="0">
                <a:solidFill>
                  <a:srgbClr val="111111"/>
                </a:solidFill>
                <a:latin typeface="Calibri" pitchFamily="34" charset="0"/>
                <a:ea typeface="Calibri" pitchFamily="34" charset="-122"/>
                <a:cs typeface="Calibri" pitchFamily="34" charset="-120"/>
              </a:rPr>
              <a:t>Each parity client j trains TWO models and sends ONE weighted average:</a:t>
            </a:r>
            <a:endParaRPr lang="en-US" sz="1400" dirty="0"/>
          </a:p>
        </p:txBody>
      </p:sp>
      <p:sp>
        <p:nvSpPr>
          <p:cNvPr id="6" name="Shape 4"/>
          <p:cNvSpPr/>
          <p:nvPr/>
        </p:nvSpPr>
        <p:spPr>
          <a:xfrm>
            <a:off x="320040" y="1298448"/>
            <a:ext cx="8503920" cy="1115568"/>
          </a:xfrm>
          <a:prstGeom prst="rect">
            <a:avLst/>
          </a:prstGeom>
          <a:solidFill>
            <a:srgbClr val="EBF3FF"/>
          </a:solidFill>
          <a:ln/>
          <a:effectLst>
            <a:outerShdw blurRad="63500" dist="25400" dir="8100000" algn="bl" rotWithShape="0">
              <a:srgbClr val="000000">
                <a:alpha val="12000"/>
              </a:srgbClr>
            </a:outerShdw>
          </a:effectLst>
        </p:spPr>
      </p:sp>
      <p:sp>
        <p:nvSpPr>
          <p:cNvPr id="7" name="Text 5"/>
          <p:cNvSpPr/>
          <p:nvPr/>
        </p:nvSpPr>
        <p:spPr>
          <a:xfrm>
            <a:off x="457200" y="1481328"/>
            <a:ext cx="8229600" cy="594360"/>
          </a:xfrm>
          <a:prstGeom prst="rect">
            <a:avLst/>
          </a:prstGeom>
          <a:noFill/>
          <a:ln/>
        </p:spPr>
        <p:txBody>
          <a:bodyPr wrap="square" rtlCol="0" anchor="ctr"/>
          <a:lstStyle/>
          <a:p>
            <a:pPr marL="0" indent="0" algn="ctr">
              <a:buNone/>
            </a:pPr>
            <a:r>
              <a:rPr lang="en-US" sz="1600" b="1" dirty="0">
                <a:solidFill>
                  <a:srgbClr val="1565C0"/>
                </a:solidFill>
                <a:latin typeface="Consolas" pitchFamily="34" charset="0"/>
                <a:ea typeface="Consolas" pitchFamily="34" charset="-122"/>
                <a:cs typeface="Consolas" pitchFamily="34" charset="-120"/>
              </a:rPr>
              <a:t>βⱼ  =  [|Dⱼ| / (|Dⱼ|+|Dφ(j)|)] · βⱼᵖʳⁱᵐᵃʳʸ  +  [|Dφ(j)| / (|Dⱼ|+|Dφ(j)|)] · βⱼᵇᵃᶜᵏᵘᵖ</a:t>
            </a:r>
            <a:endParaRPr lang="en-US" sz="1600" dirty="0"/>
          </a:p>
        </p:txBody>
      </p:sp>
      <p:sp>
        <p:nvSpPr>
          <p:cNvPr id="8" name="Text 6"/>
          <p:cNvSpPr/>
          <p:nvPr/>
        </p:nvSpPr>
        <p:spPr>
          <a:xfrm>
            <a:off x="457200" y="2231136"/>
            <a:ext cx="8229600" cy="237744"/>
          </a:xfrm>
          <a:prstGeom prst="rect">
            <a:avLst/>
          </a:prstGeom>
          <a:noFill/>
          <a:ln/>
        </p:spPr>
        <p:txBody>
          <a:bodyPr wrap="square" rtlCol="0" anchor="ctr"/>
          <a:lstStyle/>
          <a:p>
            <a:pPr marL="0" indent="0" algn="ctr">
              <a:buNone/>
            </a:pPr>
            <a:r>
              <a:rPr lang="en-US" sz="1100" i="1" dirty="0">
                <a:solidFill>
                  <a:srgbClr val="666666"/>
                </a:solidFill>
                <a:latin typeface="Calibri" pitchFamily="34" charset="0"/>
                <a:ea typeface="Calibri" pitchFamily="34" charset="-122"/>
                <a:cs typeface="Calibri" pitchFamily="34" charset="-120"/>
              </a:rPr>
              <a:t>φ(j) = index of the straggler that parity client j backs up</a:t>
            </a:r>
            <a:endParaRPr lang="en-US" sz="1100" dirty="0"/>
          </a:p>
        </p:txBody>
      </p:sp>
      <p:sp>
        <p:nvSpPr>
          <p:cNvPr id="9" name="Shape 7"/>
          <p:cNvSpPr/>
          <p:nvPr/>
        </p:nvSpPr>
        <p:spPr>
          <a:xfrm>
            <a:off x="320040" y="2606040"/>
            <a:ext cx="2743200" cy="2194560"/>
          </a:xfrm>
          <a:prstGeom prst="rect">
            <a:avLst/>
          </a:prstGeom>
          <a:solidFill>
            <a:srgbClr val="FFFFFF"/>
          </a:solidFill>
          <a:ln/>
          <a:effectLst>
            <a:outerShdw blurRad="88900" dist="38100" dir="8100000" algn="bl" rotWithShape="0">
              <a:srgbClr val="000000">
                <a:alpha val="18000"/>
              </a:srgbClr>
            </a:outerShdw>
          </a:effectLst>
        </p:spPr>
      </p:sp>
      <p:sp>
        <p:nvSpPr>
          <p:cNvPr id="10" name="Shape 8"/>
          <p:cNvSpPr/>
          <p:nvPr/>
        </p:nvSpPr>
        <p:spPr>
          <a:xfrm>
            <a:off x="320040" y="2606040"/>
            <a:ext cx="2743200" cy="384048"/>
          </a:xfrm>
          <a:prstGeom prst="rect">
            <a:avLst/>
          </a:prstGeom>
          <a:solidFill>
            <a:srgbClr val="2E7D32"/>
          </a:solidFill>
          <a:ln/>
        </p:spPr>
      </p:sp>
      <p:sp>
        <p:nvSpPr>
          <p:cNvPr id="11" name="Text 9"/>
          <p:cNvSpPr/>
          <p:nvPr/>
        </p:nvSpPr>
        <p:spPr>
          <a:xfrm>
            <a:off x="429768" y="2606040"/>
            <a:ext cx="2606040" cy="384048"/>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Same Communication Cost</a:t>
            </a:r>
            <a:endParaRPr lang="en-US" sz="1200" dirty="0"/>
          </a:p>
        </p:txBody>
      </p:sp>
      <p:sp>
        <p:nvSpPr>
          <p:cNvPr id="12" name="Text 10"/>
          <p:cNvSpPr/>
          <p:nvPr/>
        </p:nvSpPr>
        <p:spPr>
          <a:xfrm>
            <a:off x="429768" y="3081528"/>
            <a:ext cx="2578608" cy="1627632"/>
          </a:xfrm>
          <a:prstGeom prst="rect">
            <a:avLst/>
          </a:prstGeom>
          <a:noFill/>
          <a:ln/>
        </p:spPr>
        <p:txBody>
          <a:bodyPr wrap="square" rtlCol="0" anchor="ctr"/>
          <a:lstStyle/>
          <a:p>
            <a:pPr marL="0" indent="0">
              <a:buNone/>
            </a:pPr>
            <a:r>
              <a:rPr lang="en-US" sz="1200" dirty="0">
                <a:solidFill>
                  <a:srgbClr val="111111"/>
                </a:solidFill>
                <a:latin typeface="Calibri" pitchFamily="34" charset="0"/>
                <a:ea typeface="Calibri" pitchFamily="34" charset="-122"/>
                <a:cs typeface="Calibri" pitchFamily="34" charset="-120"/>
              </a:rPr>
              <a:t>Parity client sends ONE model update — identical bandwidth to any standard client</a:t>
            </a:r>
            <a:endParaRPr lang="en-US" sz="1200" dirty="0"/>
          </a:p>
        </p:txBody>
      </p:sp>
      <p:sp>
        <p:nvSpPr>
          <p:cNvPr id="13" name="Shape 11"/>
          <p:cNvSpPr/>
          <p:nvPr/>
        </p:nvSpPr>
        <p:spPr>
          <a:xfrm>
            <a:off x="3172968" y="2606040"/>
            <a:ext cx="2743200" cy="2194560"/>
          </a:xfrm>
          <a:prstGeom prst="rect">
            <a:avLst/>
          </a:prstGeom>
          <a:solidFill>
            <a:srgbClr val="FFFFFF"/>
          </a:solidFill>
          <a:ln/>
          <a:effectLst>
            <a:outerShdw blurRad="88900" dist="38100" dir="8100000" algn="bl" rotWithShape="0">
              <a:srgbClr val="000000">
                <a:alpha val="18000"/>
              </a:srgbClr>
            </a:outerShdw>
          </a:effectLst>
        </p:spPr>
      </p:sp>
      <p:sp>
        <p:nvSpPr>
          <p:cNvPr id="14" name="Shape 12"/>
          <p:cNvSpPr/>
          <p:nvPr/>
        </p:nvSpPr>
        <p:spPr>
          <a:xfrm>
            <a:off x="3172968" y="2606040"/>
            <a:ext cx="2743200" cy="384048"/>
          </a:xfrm>
          <a:prstGeom prst="rect">
            <a:avLst/>
          </a:prstGeom>
          <a:solidFill>
            <a:srgbClr val="1565C0"/>
          </a:solidFill>
          <a:ln/>
        </p:spPr>
      </p:sp>
      <p:sp>
        <p:nvSpPr>
          <p:cNvPr id="15" name="Text 13"/>
          <p:cNvSpPr/>
          <p:nvPr/>
        </p:nvSpPr>
        <p:spPr>
          <a:xfrm>
            <a:off x="3282696" y="2606040"/>
            <a:ext cx="2606040" cy="384048"/>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No Server Changes Needed</a:t>
            </a:r>
            <a:endParaRPr lang="en-US" sz="1200" dirty="0"/>
          </a:p>
        </p:txBody>
      </p:sp>
      <p:sp>
        <p:nvSpPr>
          <p:cNvPr id="16" name="Text 14"/>
          <p:cNvSpPr/>
          <p:nvPr/>
        </p:nvSpPr>
        <p:spPr>
          <a:xfrm>
            <a:off x="3282696" y="3081528"/>
            <a:ext cx="2578608" cy="1627632"/>
          </a:xfrm>
          <a:prstGeom prst="rect">
            <a:avLst/>
          </a:prstGeom>
          <a:noFill/>
          <a:ln/>
        </p:spPr>
        <p:txBody>
          <a:bodyPr wrap="square" rtlCol="0" anchor="ctr"/>
          <a:lstStyle/>
          <a:p>
            <a:pPr marL="0" indent="0">
              <a:buNone/>
            </a:pPr>
            <a:r>
              <a:rPr lang="en-US" sz="1200" dirty="0">
                <a:solidFill>
                  <a:srgbClr val="111111"/>
                </a:solidFill>
                <a:latin typeface="Calibri" pitchFamily="34" charset="0"/>
                <a:ea typeface="Calibri" pitchFamily="34" charset="-122"/>
                <a:cs typeface="Calibri" pitchFamily="34" charset="-120"/>
              </a:rPr>
              <a:t>Standard FedAvg aggregation. Parity clients get larger weight wⱼ = |Dⱼ|+|Dφ(j)|</a:t>
            </a:r>
            <a:endParaRPr lang="en-US" sz="1200" dirty="0"/>
          </a:p>
        </p:txBody>
      </p:sp>
      <p:sp>
        <p:nvSpPr>
          <p:cNvPr id="17" name="Shape 15"/>
          <p:cNvSpPr/>
          <p:nvPr/>
        </p:nvSpPr>
        <p:spPr>
          <a:xfrm>
            <a:off x="6025896" y="2606040"/>
            <a:ext cx="2743200" cy="2194560"/>
          </a:xfrm>
          <a:prstGeom prst="rect">
            <a:avLst/>
          </a:prstGeom>
          <a:solidFill>
            <a:srgbClr val="FFFFFF"/>
          </a:solidFill>
          <a:ln/>
          <a:effectLst>
            <a:outerShdw blurRad="88900" dist="38100" dir="8100000" algn="bl" rotWithShape="0">
              <a:srgbClr val="000000">
                <a:alpha val="18000"/>
              </a:srgbClr>
            </a:outerShdw>
          </a:effectLst>
        </p:spPr>
      </p:sp>
      <p:sp>
        <p:nvSpPr>
          <p:cNvPr id="18" name="Shape 16"/>
          <p:cNvSpPr/>
          <p:nvPr/>
        </p:nvSpPr>
        <p:spPr>
          <a:xfrm>
            <a:off x="6025896" y="2606040"/>
            <a:ext cx="2743200" cy="384048"/>
          </a:xfrm>
          <a:prstGeom prst="rect">
            <a:avLst/>
          </a:prstGeom>
          <a:solidFill>
            <a:srgbClr val="00796B"/>
          </a:solidFill>
          <a:ln/>
        </p:spPr>
      </p:sp>
      <p:sp>
        <p:nvSpPr>
          <p:cNvPr id="19" name="Text 17"/>
          <p:cNvSpPr/>
          <p:nvPr/>
        </p:nvSpPr>
        <p:spPr>
          <a:xfrm>
            <a:off x="6135624" y="2606040"/>
            <a:ext cx="2606040" cy="384048"/>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Zero Inter-Client Coordination</a:t>
            </a:r>
            <a:endParaRPr lang="en-US" sz="1200" dirty="0"/>
          </a:p>
        </p:txBody>
      </p:sp>
      <p:sp>
        <p:nvSpPr>
          <p:cNvPr id="20" name="Text 18"/>
          <p:cNvSpPr/>
          <p:nvPr/>
        </p:nvSpPr>
        <p:spPr>
          <a:xfrm>
            <a:off x="6135624" y="3081528"/>
            <a:ext cx="2578608" cy="1627632"/>
          </a:xfrm>
          <a:prstGeom prst="rect">
            <a:avLst/>
          </a:prstGeom>
          <a:noFill/>
          <a:ln/>
        </p:spPr>
        <p:txBody>
          <a:bodyPr wrap="square" rtlCol="0" anchor="ctr"/>
          <a:lstStyle/>
          <a:p>
            <a:pPr marL="0" indent="0">
              <a:buNone/>
            </a:pPr>
            <a:r>
              <a:rPr lang="en-US" sz="1200" dirty="0">
                <a:solidFill>
                  <a:srgbClr val="111111"/>
                </a:solidFill>
                <a:latin typeface="Calibri" pitchFamily="34" charset="0"/>
                <a:ea typeface="Calibri" pitchFamily="34" charset="-122"/>
                <a:cs typeface="Calibri" pitchFamily="34" charset="-120"/>
              </a:rPr>
              <a:t>Each parity client trains independently. No messages between clients required</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0D1B2A"/>
          </a:solidFill>
          <a:ln/>
        </p:spPr>
      </p:sp>
      <p:sp>
        <p:nvSpPr>
          <p:cNvPr id="3" name="Shape 1"/>
          <p:cNvSpPr/>
          <p:nvPr/>
        </p:nvSpPr>
        <p:spPr>
          <a:xfrm>
            <a:off x="0" y="749808"/>
            <a:ext cx="9144000" cy="50292"/>
          </a:xfrm>
          <a:prstGeom prst="rect">
            <a:avLst/>
          </a:prstGeom>
          <a:solidFill>
            <a:srgbClr val="1565C0"/>
          </a:solidFill>
          <a:ln/>
        </p:spPr>
      </p:sp>
      <p:sp>
        <p:nvSpPr>
          <p:cNvPr id="4" name="Text 2"/>
          <p:cNvSpPr/>
          <p:nvPr/>
        </p:nvSpPr>
        <p:spPr>
          <a:xfrm>
            <a:off x="320040" y="54864"/>
            <a:ext cx="8503920" cy="64008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Experimental Setup</a:t>
            </a:r>
            <a:endParaRPr lang="en-US" sz="2600" dirty="0"/>
          </a:p>
        </p:txBody>
      </p:sp>
      <p:sp>
        <p:nvSpPr>
          <p:cNvPr id="5" name="Shape 3"/>
          <p:cNvSpPr/>
          <p:nvPr/>
        </p:nvSpPr>
        <p:spPr>
          <a:xfrm>
            <a:off x="292608" y="914400"/>
            <a:ext cx="8549640" cy="594360"/>
          </a:xfrm>
          <a:prstGeom prst="rect">
            <a:avLst/>
          </a:prstGeom>
          <a:solidFill>
            <a:srgbClr val="F5F8FF"/>
          </a:solidFill>
          <a:ln/>
        </p:spPr>
      </p:sp>
      <p:sp>
        <p:nvSpPr>
          <p:cNvPr id="6" name="Shape 4"/>
          <p:cNvSpPr/>
          <p:nvPr/>
        </p:nvSpPr>
        <p:spPr>
          <a:xfrm>
            <a:off x="292608" y="914400"/>
            <a:ext cx="1691640" cy="594360"/>
          </a:xfrm>
          <a:prstGeom prst="rect">
            <a:avLst/>
          </a:prstGeom>
          <a:solidFill>
            <a:srgbClr val="0D1B2A"/>
          </a:solidFill>
          <a:ln/>
        </p:spPr>
      </p:sp>
      <p:sp>
        <p:nvSpPr>
          <p:cNvPr id="7" name="Text 5"/>
          <p:cNvSpPr/>
          <p:nvPr/>
        </p:nvSpPr>
        <p:spPr>
          <a:xfrm>
            <a:off x="347472" y="914400"/>
            <a:ext cx="1572768" cy="59436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Framework</a:t>
            </a:r>
            <a:endParaRPr lang="en-US" sz="1200" dirty="0"/>
          </a:p>
        </p:txBody>
      </p:sp>
      <p:sp>
        <p:nvSpPr>
          <p:cNvPr id="8" name="Text 6"/>
          <p:cNvSpPr/>
          <p:nvPr/>
        </p:nvSpPr>
        <p:spPr>
          <a:xfrm>
            <a:off x="2057400" y="1024128"/>
            <a:ext cx="6675120" cy="365760"/>
          </a:xfrm>
          <a:prstGeom prst="rect">
            <a:avLst/>
          </a:prstGeom>
          <a:noFill/>
          <a:ln/>
        </p:spPr>
        <p:txBody>
          <a:bodyPr wrap="square" rtlCol="0" anchor="ctr"/>
          <a:lstStyle/>
          <a:p>
            <a:pPr marL="0" indent="0">
              <a:buNone/>
            </a:pPr>
            <a:r>
              <a:rPr lang="en-US" sz="1250" dirty="0">
                <a:solidFill>
                  <a:srgbClr val="111111"/>
                </a:solidFill>
                <a:latin typeface="Calibri" pitchFamily="34" charset="0"/>
                <a:ea typeface="Calibri" pitchFamily="34" charset="-122"/>
                <a:cs typeface="Calibri" pitchFamily="34" charset="-120"/>
              </a:rPr>
              <a:t>Flower (Beutel et al., 2022) — Python simulation engine, single machine</a:t>
            </a:r>
            <a:endParaRPr lang="en-US" sz="1250" dirty="0"/>
          </a:p>
        </p:txBody>
      </p:sp>
      <p:sp>
        <p:nvSpPr>
          <p:cNvPr id="9" name="Shape 7"/>
          <p:cNvSpPr/>
          <p:nvPr/>
        </p:nvSpPr>
        <p:spPr>
          <a:xfrm>
            <a:off x="292608" y="1581912"/>
            <a:ext cx="8549640" cy="594360"/>
          </a:xfrm>
          <a:prstGeom prst="rect">
            <a:avLst/>
          </a:prstGeom>
          <a:solidFill>
            <a:srgbClr val="FFFFFF"/>
          </a:solidFill>
          <a:ln/>
        </p:spPr>
      </p:sp>
      <p:sp>
        <p:nvSpPr>
          <p:cNvPr id="10" name="Shape 8"/>
          <p:cNvSpPr/>
          <p:nvPr/>
        </p:nvSpPr>
        <p:spPr>
          <a:xfrm>
            <a:off x="292608" y="1581912"/>
            <a:ext cx="1691640" cy="594360"/>
          </a:xfrm>
          <a:prstGeom prst="rect">
            <a:avLst/>
          </a:prstGeom>
          <a:solidFill>
            <a:srgbClr val="0D1B2A"/>
          </a:solidFill>
          <a:ln/>
        </p:spPr>
      </p:sp>
      <p:sp>
        <p:nvSpPr>
          <p:cNvPr id="11" name="Text 9"/>
          <p:cNvSpPr/>
          <p:nvPr/>
        </p:nvSpPr>
        <p:spPr>
          <a:xfrm>
            <a:off x="347472" y="1581912"/>
            <a:ext cx="1572768" cy="59436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Dataset</a:t>
            </a:r>
            <a:endParaRPr lang="en-US" sz="1200" dirty="0"/>
          </a:p>
        </p:txBody>
      </p:sp>
      <p:sp>
        <p:nvSpPr>
          <p:cNvPr id="12" name="Text 10"/>
          <p:cNvSpPr/>
          <p:nvPr/>
        </p:nvSpPr>
        <p:spPr>
          <a:xfrm>
            <a:off x="2057400" y="1691640"/>
            <a:ext cx="6675120" cy="365760"/>
          </a:xfrm>
          <a:prstGeom prst="rect">
            <a:avLst/>
          </a:prstGeom>
          <a:noFill/>
          <a:ln/>
        </p:spPr>
        <p:txBody>
          <a:bodyPr wrap="square" rtlCol="0" anchor="ctr"/>
          <a:lstStyle/>
          <a:p>
            <a:pPr marL="0" indent="0">
              <a:buNone/>
            </a:pPr>
            <a:r>
              <a:rPr lang="en-US" sz="1250" dirty="0">
                <a:solidFill>
                  <a:srgbClr val="111111"/>
                </a:solidFill>
                <a:latin typeface="Calibri" pitchFamily="34" charset="0"/>
                <a:ea typeface="Calibri" pitchFamily="34" charset="-122"/>
                <a:cs typeface="Calibri" pitchFamily="34" charset="-120"/>
              </a:rPr>
              <a:t>FashionMNIST — Non-IID partition: 2 class shards per client (sorted split)</a:t>
            </a:r>
            <a:endParaRPr lang="en-US" sz="1250" dirty="0"/>
          </a:p>
        </p:txBody>
      </p:sp>
      <p:sp>
        <p:nvSpPr>
          <p:cNvPr id="13" name="Shape 11"/>
          <p:cNvSpPr/>
          <p:nvPr/>
        </p:nvSpPr>
        <p:spPr>
          <a:xfrm>
            <a:off x="292608" y="2249424"/>
            <a:ext cx="8549640" cy="594360"/>
          </a:xfrm>
          <a:prstGeom prst="rect">
            <a:avLst/>
          </a:prstGeom>
          <a:solidFill>
            <a:srgbClr val="F5F8FF"/>
          </a:solidFill>
          <a:ln/>
        </p:spPr>
      </p:sp>
      <p:sp>
        <p:nvSpPr>
          <p:cNvPr id="14" name="Shape 12"/>
          <p:cNvSpPr/>
          <p:nvPr/>
        </p:nvSpPr>
        <p:spPr>
          <a:xfrm>
            <a:off x="292608" y="2249424"/>
            <a:ext cx="1691640" cy="594360"/>
          </a:xfrm>
          <a:prstGeom prst="rect">
            <a:avLst/>
          </a:prstGeom>
          <a:solidFill>
            <a:srgbClr val="1565C0"/>
          </a:solidFill>
          <a:ln/>
        </p:spPr>
      </p:sp>
      <p:sp>
        <p:nvSpPr>
          <p:cNvPr id="15" name="Text 13"/>
          <p:cNvSpPr/>
          <p:nvPr/>
        </p:nvSpPr>
        <p:spPr>
          <a:xfrm>
            <a:off x="347472" y="2249424"/>
            <a:ext cx="1572768" cy="59436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Model</a:t>
            </a:r>
            <a:endParaRPr lang="en-US" sz="1200" dirty="0"/>
          </a:p>
        </p:txBody>
      </p:sp>
      <p:sp>
        <p:nvSpPr>
          <p:cNvPr id="16" name="Text 14"/>
          <p:cNvSpPr/>
          <p:nvPr/>
        </p:nvSpPr>
        <p:spPr>
          <a:xfrm>
            <a:off x="2057400" y="2359152"/>
            <a:ext cx="6675120" cy="365760"/>
          </a:xfrm>
          <a:prstGeom prst="rect">
            <a:avLst/>
          </a:prstGeom>
          <a:noFill/>
          <a:ln/>
        </p:spPr>
        <p:txBody>
          <a:bodyPr wrap="square" rtlCol="0" anchor="ctr"/>
          <a:lstStyle/>
          <a:p>
            <a:pPr marL="0" indent="0">
              <a:buNone/>
            </a:pPr>
            <a:r>
              <a:rPr lang="en-US" sz="1250" dirty="0">
                <a:solidFill>
                  <a:srgbClr val="111111"/>
                </a:solidFill>
                <a:latin typeface="Calibri" pitchFamily="34" charset="0"/>
                <a:ea typeface="Calibri" pitchFamily="34" charset="-122"/>
                <a:cs typeface="Calibri" pitchFamily="34" charset="-120"/>
              </a:rPr>
              <a:t>Two-layer CNN — SGD, lr=0.01, momentum=0.9, 1 local epoch per round</a:t>
            </a:r>
            <a:endParaRPr lang="en-US" sz="1250" dirty="0"/>
          </a:p>
        </p:txBody>
      </p:sp>
      <p:sp>
        <p:nvSpPr>
          <p:cNvPr id="17" name="Shape 15"/>
          <p:cNvSpPr/>
          <p:nvPr/>
        </p:nvSpPr>
        <p:spPr>
          <a:xfrm>
            <a:off x="292608" y="2916936"/>
            <a:ext cx="8549640" cy="594360"/>
          </a:xfrm>
          <a:prstGeom prst="rect">
            <a:avLst/>
          </a:prstGeom>
          <a:solidFill>
            <a:srgbClr val="FFFFFF"/>
          </a:solidFill>
          <a:ln/>
        </p:spPr>
      </p:sp>
      <p:sp>
        <p:nvSpPr>
          <p:cNvPr id="18" name="Shape 16"/>
          <p:cNvSpPr/>
          <p:nvPr/>
        </p:nvSpPr>
        <p:spPr>
          <a:xfrm>
            <a:off x="292608" y="2916936"/>
            <a:ext cx="1691640" cy="594360"/>
          </a:xfrm>
          <a:prstGeom prst="rect">
            <a:avLst/>
          </a:prstGeom>
          <a:solidFill>
            <a:srgbClr val="1565C0"/>
          </a:solidFill>
          <a:ln/>
        </p:spPr>
      </p:sp>
      <p:sp>
        <p:nvSpPr>
          <p:cNvPr id="19" name="Text 17"/>
          <p:cNvSpPr/>
          <p:nvPr/>
        </p:nvSpPr>
        <p:spPr>
          <a:xfrm>
            <a:off x="347472" y="2916936"/>
            <a:ext cx="1572768" cy="59436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Scale</a:t>
            </a:r>
            <a:endParaRPr lang="en-US" sz="1200" dirty="0"/>
          </a:p>
        </p:txBody>
      </p:sp>
      <p:sp>
        <p:nvSpPr>
          <p:cNvPr id="20" name="Text 18"/>
          <p:cNvSpPr/>
          <p:nvPr/>
        </p:nvSpPr>
        <p:spPr>
          <a:xfrm>
            <a:off x="2057400" y="3026664"/>
            <a:ext cx="6675120" cy="365760"/>
          </a:xfrm>
          <a:prstGeom prst="rect">
            <a:avLst/>
          </a:prstGeom>
          <a:noFill/>
          <a:ln/>
        </p:spPr>
        <p:txBody>
          <a:bodyPr wrap="square" rtlCol="0" anchor="ctr"/>
          <a:lstStyle/>
          <a:p>
            <a:pPr marL="0" indent="0">
              <a:buNone/>
            </a:pPr>
            <a:r>
              <a:rPr lang="en-US" sz="1250" dirty="0">
                <a:solidFill>
                  <a:srgbClr val="111111"/>
                </a:solidFill>
                <a:latin typeface="Calibri" pitchFamily="34" charset="0"/>
                <a:ea typeface="Calibri" pitchFamily="34" charset="-122"/>
                <a:cs typeface="Calibri" pitchFamily="34" charset="-120"/>
              </a:rPr>
              <a:t>10-node (primary) and 100-node (scaling) — 5 communication rounds each</a:t>
            </a:r>
            <a:endParaRPr lang="en-US" sz="1250" dirty="0"/>
          </a:p>
        </p:txBody>
      </p:sp>
      <p:sp>
        <p:nvSpPr>
          <p:cNvPr id="21" name="Shape 19"/>
          <p:cNvSpPr/>
          <p:nvPr/>
        </p:nvSpPr>
        <p:spPr>
          <a:xfrm>
            <a:off x="292608" y="3584448"/>
            <a:ext cx="8549640" cy="594360"/>
          </a:xfrm>
          <a:prstGeom prst="rect">
            <a:avLst/>
          </a:prstGeom>
          <a:solidFill>
            <a:srgbClr val="F5F8FF"/>
          </a:solidFill>
          <a:ln/>
        </p:spPr>
      </p:sp>
      <p:sp>
        <p:nvSpPr>
          <p:cNvPr id="22" name="Shape 20"/>
          <p:cNvSpPr/>
          <p:nvPr/>
        </p:nvSpPr>
        <p:spPr>
          <a:xfrm>
            <a:off x="292608" y="3584448"/>
            <a:ext cx="1691640" cy="594360"/>
          </a:xfrm>
          <a:prstGeom prst="rect">
            <a:avLst/>
          </a:prstGeom>
          <a:solidFill>
            <a:srgbClr val="00796B"/>
          </a:solidFill>
          <a:ln/>
        </p:spPr>
      </p:sp>
      <p:sp>
        <p:nvSpPr>
          <p:cNvPr id="23" name="Text 21"/>
          <p:cNvSpPr/>
          <p:nvPr/>
        </p:nvSpPr>
        <p:spPr>
          <a:xfrm>
            <a:off x="347472" y="3584448"/>
            <a:ext cx="1572768" cy="59436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Straggler delay</a:t>
            </a:r>
            <a:endParaRPr lang="en-US" sz="1200" dirty="0"/>
          </a:p>
        </p:txBody>
      </p:sp>
      <p:sp>
        <p:nvSpPr>
          <p:cNvPr id="24" name="Text 22"/>
          <p:cNvSpPr/>
          <p:nvPr/>
        </p:nvSpPr>
        <p:spPr>
          <a:xfrm>
            <a:off x="2057400" y="3694176"/>
            <a:ext cx="6675120" cy="365760"/>
          </a:xfrm>
          <a:prstGeom prst="rect">
            <a:avLst/>
          </a:prstGeom>
          <a:noFill/>
          <a:ln/>
        </p:spPr>
        <p:txBody>
          <a:bodyPr wrap="square" rtlCol="0" anchor="ctr"/>
          <a:lstStyle/>
          <a:p>
            <a:pPr marL="0" indent="0">
              <a:buNone/>
            </a:pPr>
            <a:r>
              <a:rPr lang="en-US" sz="1250" dirty="0">
                <a:solidFill>
                  <a:srgbClr val="111111"/>
                </a:solidFill>
                <a:latin typeface="Calibri" pitchFamily="34" charset="0"/>
                <a:ea typeface="Calibri" pitchFamily="34" charset="-122"/>
                <a:cs typeface="Calibri" pitchFamily="34" charset="-120"/>
              </a:rPr>
              <a:t>Clients 0–2 (10-node) / 0–9 (100-node): Uniform(2s, 5s) per round</a:t>
            </a:r>
            <a:endParaRPr lang="en-US" sz="1250" dirty="0"/>
          </a:p>
        </p:txBody>
      </p:sp>
      <p:sp>
        <p:nvSpPr>
          <p:cNvPr id="25" name="Shape 23"/>
          <p:cNvSpPr/>
          <p:nvPr/>
        </p:nvSpPr>
        <p:spPr>
          <a:xfrm>
            <a:off x="292608" y="4251960"/>
            <a:ext cx="8549640" cy="594360"/>
          </a:xfrm>
          <a:prstGeom prst="rect">
            <a:avLst/>
          </a:prstGeom>
          <a:solidFill>
            <a:srgbClr val="FFFFFF"/>
          </a:solidFill>
          <a:ln/>
        </p:spPr>
      </p:sp>
      <p:sp>
        <p:nvSpPr>
          <p:cNvPr id="26" name="Shape 24"/>
          <p:cNvSpPr/>
          <p:nvPr/>
        </p:nvSpPr>
        <p:spPr>
          <a:xfrm>
            <a:off x="292608" y="4251960"/>
            <a:ext cx="1691640" cy="594360"/>
          </a:xfrm>
          <a:prstGeom prst="rect">
            <a:avLst/>
          </a:prstGeom>
          <a:solidFill>
            <a:srgbClr val="00796B"/>
          </a:solidFill>
          <a:ln/>
        </p:spPr>
      </p:sp>
      <p:sp>
        <p:nvSpPr>
          <p:cNvPr id="27" name="Text 25"/>
          <p:cNvSpPr/>
          <p:nvPr/>
        </p:nvSpPr>
        <p:spPr>
          <a:xfrm>
            <a:off x="347472" y="4251960"/>
            <a:ext cx="1572768" cy="59436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Fast clients</a:t>
            </a:r>
            <a:endParaRPr lang="en-US" sz="1200" dirty="0"/>
          </a:p>
        </p:txBody>
      </p:sp>
      <p:sp>
        <p:nvSpPr>
          <p:cNvPr id="28" name="Text 26"/>
          <p:cNvSpPr/>
          <p:nvPr/>
        </p:nvSpPr>
        <p:spPr>
          <a:xfrm>
            <a:off x="2057400" y="4361688"/>
            <a:ext cx="6675120" cy="365760"/>
          </a:xfrm>
          <a:prstGeom prst="rect">
            <a:avLst/>
          </a:prstGeom>
          <a:noFill/>
          <a:ln/>
        </p:spPr>
        <p:txBody>
          <a:bodyPr wrap="square" rtlCol="0" anchor="ctr"/>
          <a:lstStyle/>
          <a:p>
            <a:pPr marL="0" indent="0">
              <a:buNone/>
            </a:pPr>
            <a:r>
              <a:rPr lang="en-US" sz="1250" dirty="0">
                <a:solidFill>
                  <a:srgbClr val="111111"/>
                </a:solidFill>
                <a:latin typeface="Calibri" pitchFamily="34" charset="0"/>
                <a:ea typeface="Calibri" pitchFamily="34" charset="-122"/>
                <a:cs typeface="Calibri" pitchFamily="34" charset="-120"/>
              </a:rPr>
              <a:t>Remaining clients: Uniform(0s, 0.6s) — complete well before deadline</a:t>
            </a:r>
            <a:endParaRPr lang="en-US" sz="1250" dirty="0"/>
          </a:p>
        </p:txBody>
      </p:sp>
      <p:sp>
        <p:nvSpPr>
          <p:cNvPr id="29" name="Text 27"/>
          <p:cNvSpPr/>
          <p:nvPr/>
        </p:nvSpPr>
        <p:spPr>
          <a:xfrm>
            <a:off x="292608" y="4956048"/>
            <a:ext cx="2286000" cy="301752"/>
          </a:xfrm>
          <a:prstGeom prst="rect">
            <a:avLst/>
          </a:prstGeom>
          <a:noFill/>
          <a:ln/>
        </p:spPr>
        <p:txBody>
          <a:bodyPr wrap="square" rtlCol="0" anchor="ctr"/>
          <a:lstStyle/>
          <a:p>
            <a:pPr marL="0" indent="0">
              <a:buNone/>
            </a:pPr>
            <a:r>
              <a:rPr lang="en-US" sz="1200" b="1" dirty="0">
                <a:solidFill>
                  <a:srgbClr val="111111"/>
                </a:solidFill>
                <a:latin typeface="Calibri" pitchFamily="34" charset="0"/>
                <a:ea typeface="Calibri" pitchFamily="34" charset="-122"/>
                <a:cs typeface="Calibri" pitchFamily="34" charset="-120"/>
              </a:rPr>
              <a:t>Five strategies compared:</a:t>
            </a:r>
            <a:endParaRPr lang="en-US" sz="1200" dirty="0"/>
          </a:p>
        </p:txBody>
      </p:sp>
      <p:sp>
        <p:nvSpPr>
          <p:cNvPr id="30" name="Shape 28"/>
          <p:cNvSpPr/>
          <p:nvPr/>
        </p:nvSpPr>
        <p:spPr>
          <a:xfrm>
            <a:off x="2606040" y="4956048"/>
            <a:ext cx="1234440" cy="301752"/>
          </a:xfrm>
          <a:prstGeom prst="rect">
            <a:avLst/>
          </a:prstGeom>
          <a:solidFill>
            <a:srgbClr val="1565C0"/>
          </a:solidFill>
          <a:ln/>
          <a:effectLst>
            <a:outerShdw blurRad="50800" dist="12700" dir="8100000" algn="bl" rotWithShape="0">
              <a:srgbClr val="000000">
                <a:alpha val="15000"/>
              </a:srgbClr>
            </a:outerShdw>
          </a:effectLst>
        </p:spPr>
      </p:sp>
      <p:sp>
        <p:nvSpPr>
          <p:cNvPr id="31" name="Text 29"/>
          <p:cNvSpPr/>
          <p:nvPr/>
        </p:nvSpPr>
        <p:spPr>
          <a:xfrm>
            <a:off x="2606040" y="4956048"/>
            <a:ext cx="1234440" cy="301752"/>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Baseline (wait all)</a:t>
            </a:r>
            <a:endParaRPr lang="en-US" sz="950" dirty="0"/>
          </a:p>
        </p:txBody>
      </p:sp>
      <p:sp>
        <p:nvSpPr>
          <p:cNvPr id="32" name="Shape 30"/>
          <p:cNvSpPr/>
          <p:nvPr/>
        </p:nvSpPr>
        <p:spPr>
          <a:xfrm>
            <a:off x="3904488" y="4956048"/>
            <a:ext cx="1234440" cy="301752"/>
          </a:xfrm>
          <a:prstGeom prst="rect">
            <a:avLst/>
          </a:prstGeom>
          <a:solidFill>
            <a:srgbClr val="00796B"/>
          </a:solidFill>
          <a:ln/>
          <a:effectLst>
            <a:outerShdw blurRad="50800" dist="12700" dir="8100000" algn="bl" rotWithShape="0">
              <a:srgbClr val="000000">
                <a:alpha val="15000"/>
              </a:srgbClr>
            </a:outerShdw>
          </a:effectLst>
        </p:spPr>
      </p:sp>
      <p:sp>
        <p:nvSpPr>
          <p:cNvPr id="33" name="Text 31"/>
          <p:cNvSpPr/>
          <p:nvPr/>
        </p:nvSpPr>
        <p:spPr>
          <a:xfrm>
            <a:off x="3904488" y="4956048"/>
            <a:ext cx="1234440" cy="301752"/>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Partial k=5</a:t>
            </a:r>
            <a:endParaRPr lang="en-US" sz="950" dirty="0"/>
          </a:p>
        </p:txBody>
      </p:sp>
      <p:sp>
        <p:nvSpPr>
          <p:cNvPr id="34" name="Shape 32"/>
          <p:cNvSpPr/>
          <p:nvPr/>
        </p:nvSpPr>
        <p:spPr>
          <a:xfrm>
            <a:off x="5202936" y="4956048"/>
            <a:ext cx="1234440" cy="301752"/>
          </a:xfrm>
          <a:prstGeom prst="rect">
            <a:avLst/>
          </a:prstGeom>
          <a:solidFill>
            <a:srgbClr val="E65100"/>
          </a:solidFill>
          <a:ln/>
          <a:effectLst>
            <a:outerShdw blurRad="50800" dist="12700" dir="8100000" algn="bl" rotWithShape="0">
              <a:srgbClr val="000000">
                <a:alpha val="15000"/>
              </a:srgbClr>
            </a:outerShdw>
          </a:effectLst>
        </p:spPr>
      </p:sp>
      <p:sp>
        <p:nvSpPr>
          <p:cNvPr id="35" name="Text 33"/>
          <p:cNvSpPr/>
          <p:nvPr/>
        </p:nvSpPr>
        <p:spPr>
          <a:xfrm>
            <a:off x="5202936" y="4956048"/>
            <a:ext cx="1234440" cy="301752"/>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Deadline 8s</a:t>
            </a:r>
            <a:endParaRPr lang="en-US" sz="950" dirty="0"/>
          </a:p>
        </p:txBody>
      </p:sp>
      <p:sp>
        <p:nvSpPr>
          <p:cNvPr id="36" name="Shape 34"/>
          <p:cNvSpPr/>
          <p:nvPr/>
        </p:nvSpPr>
        <p:spPr>
          <a:xfrm>
            <a:off x="6501384" y="4956048"/>
            <a:ext cx="1234440" cy="301752"/>
          </a:xfrm>
          <a:prstGeom prst="rect">
            <a:avLst/>
          </a:prstGeom>
          <a:solidFill>
            <a:srgbClr val="C62828"/>
          </a:solidFill>
          <a:ln/>
          <a:effectLst>
            <a:outerShdw blurRad="50800" dist="12700" dir="8100000" algn="bl" rotWithShape="0">
              <a:srgbClr val="000000">
                <a:alpha val="15000"/>
              </a:srgbClr>
            </a:outerShdw>
          </a:effectLst>
        </p:spPr>
      </p:sp>
      <p:sp>
        <p:nvSpPr>
          <p:cNvPr id="37" name="Text 35"/>
          <p:cNvSpPr/>
          <p:nvPr/>
        </p:nvSpPr>
        <p:spPr>
          <a:xfrm>
            <a:off x="6501384" y="4956048"/>
            <a:ext cx="1234440" cy="301752"/>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Async 1.5s</a:t>
            </a:r>
            <a:endParaRPr lang="en-US" sz="950" dirty="0"/>
          </a:p>
        </p:txBody>
      </p:sp>
      <p:sp>
        <p:nvSpPr>
          <p:cNvPr id="38" name="Shape 36"/>
          <p:cNvSpPr/>
          <p:nvPr/>
        </p:nvSpPr>
        <p:spPr>
          <a:xfrm>
            <a:off x="7799832" y="4956048"/>
            <a:ext cx="1234440" cy="301752"/>
          </a:xfrm>
          <a:prstGeom prst="rect">
            <a:avLst/>
          </a:prstGeom>
          <a:solidFill>
            <a:srgbClr val="2E7D32"/>
          </a:solidFill>
          <a:ln/>
          <a:effectLst>
            <a:outerShdw blurRad="50800" dist="12700" dir="8100000" algn="bl" rotWithShape="0">
              <a:srgbClr val="000000">
                <a:alpha val="15000"/>
              </a:srgbClr>
            </a:outerShdw>
          </a:effectLst>
        </p:spPr>
      </p:sp>
      <p:sp>
        <p:nvSpPr>
          <p:cNvPr id="39" name="Text 37"/>
          <p:cNvSpPr/>
          <p:nvPr/>
        </p:nvSpPr>
        <p:spPr>
          <a:xfrm>
            <a:off x="7799832" y="4956048"/>
            <a:ext cx="1234440" cy="301752"/>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Erasure Coded ★</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0D1B2A"/>
          </a:solidFill>
          <a:ln/>
        </p:spPr>
      </p:sp>
      <p:sp>
        <p:nvSpPr>
          <p:cNvPr id="3" name="Shape 1"/>
          <p:cNvSpPr/>
          <p:nvPr/>
        </p:nvSpPr>
        <p:spPr>
          <a:xfrm>
            <a:off x="0" y="749808"/>
            <a:ext cx="9144000" cy="50292"/>
          </a:xfrm>
          <a:prstGeom prst="rect">
            <a:avLst/>
          </a:prstGeom>
          <a:solidFill>
            <a:srgbClr val="1565C0"/>
          </a:solidFill>
          <a:ln/>
        </p:spPr>
      </p:sp>
      <p:sp>
        <p:nvSpPr>
          <p:cNvPr id="4" name="Text 2"/>
          <p:cNvSpPr/>
          <p:nvPr/>
        </p:nvSpPr>
        <p:spPr>
          <a:xfrm>
            <a:off x="320040" y="54864"/>
            <a:ext cx="8503920" cy="64008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Results: Accuracy &amp; Convergence</a:t>
            </a:r>
            <a:endParaRPr lang="en-US" sz="2600" dirty="0"/>
          </a:p>
        </p:txBody>
      </p:sp>
      <p:pic>
        <p:nvPicPr>
          <p:cNvPr id="5" name="Image 0" descr="preencoded.png"/>
          <p:cNvPicPr>
            <a:picLocks noChangeAspect="1"/>
          </p:cNvPicPr>
          <p:nvPr/>
        </p:nvPicPr>
        <p:blipFill>
          <a:blip r:embed="rId3"/>
          <a:srcRect/>
          <a:stretch/>
        </p:blipFill>
        <p:spPr>
          <a:xfrm>
            <a:off x="292608" y="868680"/>
            <a:ext cx="5943600" cy="3794760"/>
          </a:xfrm>
          <a:prstGeom prst="rect">
            <a:avLst/>
          </a:prstGeom>
        </p:spPr>
      </p:pic>
      <p:sp>
        <p:nvSpPr>
          <p:cNvPr id="6" name="Shape 3"/>
          <p:cNvSpPr/>
          <p:nvPr/>
        </p:nvSpPr>
        <p:spPr>
          <a:xfrm>
            <a:off x="6400800" y="868680"/>
            <a:ext cx="2450592" cy="3794760"/>
          </a:xfrm>
          <a:prstGeom prst="rect">
            <a:avLst/>
          </a:prstGeom>
          <a:solidFill>
            <a:srgbClr val="F5F5F5"/>
          </a:solidFill>
          <a:ln/>
          <a:effectLst>
            <a:outerShdw blurRad="76200" dist="25400" dir="8100000" algn="bl" rotWithShape="0">
              <a:srgbClr val="000000">
                <a:alpha val="15000"/>
              </a:srgbClr>
            </a:outerShdw>
          </a:effectLst>
        </p:spPr>
      </p:sp>
      <p:sp>
        <p:nvSpPr>
          <p:cNvPr id="7" name="Text 4"/>
          <p:cNvSpPr/>
          <p:nvPr/>
        </p:nvSpPr>
        <p:spPr>
          <a:xfrm>
            <a:off x="6492240" y="932688"/>
            <a:ext cx="2267712" cy="347472"/>
          </a:xfrm>
          <a:prstGeom prst="rect">
            <a:avLst/>
          </a:prstGeom>
          <a:noFill/>
          <a:ln/>
        </p:spPr>
        <p:txBody>
          <a:bodyPr wrap="square" rtlCol="0" anchor="ctr"/>
          <a:lstStyle/>
          <a:p>
            <a:pPr marL="0" indent="0">
              <a:buNone/>
            </a:pPr>
            <a:r>
              <a:rPr lang="en-US" sz="1400" b="1" dirty="0">
                <a:solidFill>
                  <a:srgbClr val="111111"/>
                </a:solidFill>
                <a:latin typeface="Calibri" pitchFamily="34" charset="0"/>
                <a:ea typeface="Calibri" pitchFamily="34" charset="-122"/>
                <a:cs typeface="Calibri" pitchFamily="34" charset="-120"/>
              </a:rPr>
              <a:t>Key Numbers</a:t>
            </a:r>
            <a:endParaRPr lang="en-US" sz="1400" dirty="0"/>
          </a:p>
        </p:txBody>
      </p:sp>
      <p:sp>
        <p:nvSpPr>
          <p:cNvPr id="8" name="Shape 5"/>
          <p:cNvSpPr/>
          <p:nvPr/>
        </p:nvSpPr>
        <p:spPr>
          <a:xfrm>
            <a:off x="6473952" y="1353312"/>
            <a:ext cx="2304288" cy="749808"/>
          </a:xfrm>
          <a:prstGeom prst="rect">
            <a:avLst/>
          </a:prstGeom>
          <a:solidFill>
            <a:srgbClr val="FFFFFF"/>
          </a:solidFill>
          <a:ln/>
          <a:effectLst>
            <a:outerShdw blurRad="50800" dist="25400" dir="8100000" algn="bl" rotWithShape="0">
              <a:srgbClr val="000000">
                <a:alpha val="10000"/>
              </a:srgbClr>
            </a:outerShdw>
          </a:effectLst>
        </p:spPr>
      </p:sp>
      <p:sp>
        <p:nvSpPr>
          <p:cNvPr id="9" name="Text 6"/>
          <p:cNvSpPr/>
          <p:nvPr/>
        </p:nvSpPr>
        <p:spPr>
          <a:xfrm>
            <a:off x="6473952" y="1389888"/>
            <a:ext cx="777240" cy="347472"/>
          </a:xfrm>
          <a:prstGeom prst="rect">
            <a:avLst/>
          </a:prstGeom>
          <a:noFill/>
          <a:ln/>
        </p:spPr>
        <p:txBody>
          <a:bodyPr wrap="square" rtlCol="0" anchor="ctr"/>
          <a:lstStyle/>
          <a:p>
            <a:pPr marL="0" indent="0" algn="ctr">
              <a:buNone/>
            </a:pPr>
            <a:r>
              <a:rPr lang="en-US" sz="1800" b="1" dirty="0">
                <a:solidFill>
                  <a:srgbClr val="2E7D32"/>
                </a:solidFill>
                <a:latin typeface="Calibri" pitchFamily="34" charset="0"/>
                <a:ea typeface="Calibri" pitchFamily="34" charset="-122"/>
                <a:cs typeface="Calibri" pitchFamily="34" charset="-120"/>
              </a:rPr>
              <a:t>47.7%</a:t>
            </a:r>
            <a:endParaRPr lang="en-US" sz="1800" dirty="0"/>
          </a:p>
        </p:txBody>
      </p:sp>
      <p:sp>
        <p:nvSpPr>
          <p:cNvPr id="10" name="Text 7"/>
          <p:cNvSpPr/>
          <p:nvPr/>
        </p:nvSpPr>
        <p:spPr>
          <a:xfrm>
            <a:off x="7269480" y="1389888"/>
            <a:ext cx="1481328" cy="292608"/>
          </a:xfrm>
          <a:prstGeom prst="rect">
            <a:avLst/>
          </a:prstGeom>
          <a:noFill/>
          <a:ln/>
        </p:spPr>
        <p:txBody>
          <a:bodyPr wrap="square" rtlCol="0" anchor="ctr"/>
          <a:lstStyle/>
          <a:p>
            <a:pPr marL="0" indent="0">
              <a:buNone/>
            </a:pPr>
            <a:r>
              <a:rPr lang="en-US" sz="1150" b="1" dirty="0">
                <a:solidFill>
                  <a:srgbClr val="111111"/>
                </a:solidFill>
                <a:latin typeface="Calibri" pitchFamily="34" charset="0"/>
                <a:ea typeface="Calibri" pitchFamily="34" charset="-122"/>
                <a:cs typeface="Calibri" pitchFamily="34" charset="-120"/>
              </a:rPr>
              <a:t>Erasure Coded</a:t>
            </a:r>
            <a:endParaRPr lang="en-US" sz="1150" dirty="0"/>
          </a:p>
        </p:txBody>
      </p:sp>
      <p:sp>
        <p:nvSpPr>
          <p:cNvPr id="11" name="Text 8"/>
          <p:cNvSpPr/>
          <p:nvPr/>
        </p:nvSpPr>
        <p:spPr>
          <a:xfrm>
            <a:off x="6473952" y="1773936"/>
            <a:ext cx="2286000" cy="292608"/>
          </a:xfrm>
          <a:prstGeom prst="rect">
            <a:avLst/>
          </a:prstGeom>
          <a:noFill/>
          <a:ln/>
        </p:spPr>
        <p:txBody>
          <a:bodyPr wrap="square" rtlCol="0" anchor="ctr"/>
          <a:lstStyle/>
          <a:p>
            <a:pPr marL="0" indent="0">
              <a:buNone/>
            </a:pPr>
            <a:r>
              <a:rPr lang="en-US" sz="1000" dirty="0">
                <a:solidFill>
                  <a:srgbClr val="666666"/>
                </a:solidFill>
                <a:latin typeface="Calibri" pitchFamily="34" charset="0"/>
                <a:ea typeface="Calibri" pitchFamily="34" charset="-122"/>
                <a:cs typeface="Calibri" pitchFamily="34" charset="-120"/>
              </a:rPr>
              <a:t>vs 49.8% baseline</a:t>
            </a:r>
            <a:endParaRPr lang="en-US" sz="1000" dirty="0"/>
          </a:p>
        </p:txBody>
      </p:sp>
      <p:sp>
        <p:nvSpPr>
          <p:cNvPr id="12" name="Shape 9"/>
          <p:cNvSpPr/>
          <p:nvPr/>
        </p:nvSpPr>
        <p:spPr>
          <a:xfrm>
            <a:off x="6473952" y="2221992"/>
            <a:ext cx="2304288" cy="749808"/>
          </a:xfrm>
          <a:prstGeom prst="rect">
            <a:avLst/>
          </a:prstGeom>
          <a:solidFill>
            <a:srgbClr val="FFFFFF"/>
          </a:solidFill>
          <a:ln/>
          <a:effectLst>
            <a:outerShdw blurRad="50800" dist="25400" dir="8100000" algn="bl" rotWithShape="0">
              <a:srgbClr val="000000">
                <a:alpha val="10000"/>
              </a:srgbClr>
            </a:outerShdw>
          </a:effectLst>
        </p:spPr>
      </p:sp>
      <p:sp>
        <p:nvSpPr>
          <p:cNvPr id="13" name="Text 10"/>
          <p:cNvSpPr/>
          <p:nvPr/>
        </p:nvSpPr>
        <p:spPr>
          <a:xfrm>
            <a:off x="6473952" y="2258568"/>
            <a:ext cx="777240" cy="347472"/>
          </a:xfrm>
          <a:prstGeom prst="rect">
            <a:avLst/>
          </a:prstGeom>
          <a:noFill/>
          <a:ln/>
        </p:spPr>
        <p:txBody>
          <a:bodyPr wrap="square" rtlCol="0" anchor="ctr"/>
          <a:lstStyle/>
          <a:p>
            <a:pPr marL="0" indent="0" algn="ctr">
              <a:buNone/>
            </a:pPr>
            <a:r>
              <a:rPr lang="en-US" sz="1800" b="1" dirty="0">
                <a:solidFill>
                  <a:srgbClr val="1565C0"/>
                </a:solidFill>
                <a:latin typeface="Calibri" pitchFamily="34" charset="0"/>
                <a:ea typeface="Calibri" pitchFamily="34" charset="-122"/>
                <a:cs typeface="Calibri" pitchFamily="34" charset="-120"/>
              </a:rPr>
              <a:t>2.1pp</a:t>
            </a:r>
            <a:endParaRPr lang="en-US" sz="1800" dirty="0"/>
          </a:p>
        </p:txBody>
      </p:sp>
      <p:sp>
        <p:nvSpPr>
          <p:cNvPr id="14" name="Text 11"/>
          <p:cNvSpPr/>
          <p:nvPr/>
        </p:nvSpPr>
        <p:spPr>
          <a:xfrm>
            <a:off x="7269480" y="2258568"/>
            <a:ext cx="1481328" cy="292608"/>
          </a:xfrm>
          <a:prstGeom prst="rect">
            <a:avLst/>
          </a:prstGeom>
          <a:noFill/>
          <a:ln/>
        </p:spPr>
        <p:txBody>
          <a:bodyPr wrap="square" rtlCol="0" anchor="ctr"/>
          <a:lstStyle/>
          <a:p>
            <a:pPr marL="0" indent="0">
              <a:buNone/>
            </a:pPr>
            <a:r>
              <a:rPr lang="en-US" sz="1150" b="1" dirty="0">
                <a:solidFill>
                  <a:srgbClr val="111111"/>
                </a:solidFill>
                <a:latin typeface="Calibri" pitchFamily="34" charset="0"/>
                <a:ea typeface="Calibri" pitchFamily="34" charset="-122"/>
                <a:cs typeface="Calibri" pitchFamily="34" charset="-120"/>
              </a:rPr>
              <a:t>Accuracy gap</a:t>
            </a:r>
            <a:endParaRPr lang="en-US" sz="1150" dirty="0"/>
          </a:p>
        </p:txBody>
      </p:sp>
      <p:sp>
        <p:nvSpPr>
          <p:cNvPr id="15" name="Text 12"/>
          <p:cNvSpPr/>
          <p:nvPr/>
        </p:nvSpPr>
        <p:spPr>
          <a:xfrm>
            <a:off x="6473952" y="2642616"/>
            <a:ext cx="2286000" cy="292608"/>
          </a:xfrm>
          <a:prstGeom prst="rect">
            <a:avLst/>
          </a:prstGeom>
          <a:noFill/>
          <a:ln/>
        </p:spPr>
        <p:txBody>
          <a:bodyPr wrap="square" rtlCol="0" anchor="ctr"/>
          <a:lstStyle/>
          <a:p>
            <a:pPr marL="0" indent="0">
              <a:buNone/>
            </a:pPr>
            <a:r>
              <a:rPr lang="en-US" sz="1000" dirty="0">
                <a:solidFill>
                  <a:srgbClr val="666666"/>
                </a:solidFill>
                <a:latin typeface="Calibri" pitchFamily="34" charset="0"/>
                <a:ea typeface="Calibri" pitchFamily="34" charset="-122"/>
                <a:cs typeface="Calibri" pitchFamily="34" charset="-120"/>
              </a:rPr>
              <a:t>Within 2 percentage points of theoretical ceiling</a:t>
            </a:r>
            <a:endParaRPr lang="en-US" sz="1000" dirty="0"/>
          </a:p>
        </p:txBody>
      </p:sp>
      <p:sp>
        <p:nvSpPr>
          <p:cNvPr id="16" name="Shape 13"/>
          <p:cNvSpPr/>
          <p:nvPr/>
        </p:nvSpPr>
        <p:spPr>
          <a:xfrm>
            <a:off x="6473952" y="3090672"/>
            <a:ext cx="2304288" cy="749808"/>
          </a:xfrm>
          <a:prstGeom prst="rect">
            <a:avLst/>
          </a:prstGeom>
          <a:solidFill>
            <a:srgbClr val="FFFFFF"/>
          </a:solidFill>
          <a:ln/>
          <a:effectLst>
            <a:outerShdw blurRad="50800" dist="25400" dir="8100000" algn="bl" rotWithShape="0">
              <a:srgbClr val="000000">
                <a:alpha val="10000"/>
              </a:srgbClr>
            </a:outerShdw>
          </a:effectLst>
        </p:spPr>
      </p:sp>
      <p:sp>
        <p:nvSpPr>
          <p:cNvPr id="17" name="Text 14"/>
          <p:cNvSpPr/>
          <p:nvPr/>
        </p:nvSpPr>
        <p:spPr>
          <a:xfrm>
            <a:off x="6473952" y="3127248"/>
            <a:ext cx="777240" cy="347472"/>
          </a:xfrm>
          <a:prstGeom prst="rect">
            <a:avLst/>
          </a:prstGeom>
          <a:noFill/>
          <a:ln/>
        </p:spPr>
        <p:txBody>
          <a:bodyPr wrap="square" rtlCol="0" anchor="ctr"/>
          <a:lstStyle/>
          <a:p>
            <a:pPr marL="0" indent="0" algn="ctr">
              <a:buNone/>
            </a:pPr>
            <a:r>
              <a:rPr lang="en-US" sz="1800" b="1" dirty="0">
                <a:solidFill>
                  <a:srgbClr val="E65100"/>
                </a:solidFill>
                <a:latin typeface="Calibri" pitchFamily="34" charset="0"/>
                <a:ea typeface="Calibri" pitchFamily="34" charset="-122"/>
                <a:cs typeface="Calibri" pitchFamily="34" charset="-120"/>
              </a:rPr>
              <a:t>41.9%</a:t>
            </a:r>
            <a:endParaRPr lang="en-US" sz="1800" dirty="0"/>
          </a:p>
        </p:txBody>
      </p:sp>
      <p:sp>
        <p:nvSpPr>
          <p:cNvPr id="18" name="Text 15"/>
          <p:cNvSpPr/>
          <p:nvPr/>
        </p:nvSpPr>
        <p:spPr>
          <a:xfrm>
            <a:off x="7269480" y="3127248"/>
            <a:ext cx="1481328" cy="292608"/>
          </a:xfrm>
          <a:prstGeom prst="rect">
            <a:avLst/>
          </a:prstGeom>
          <a:noFill/>
          <a:ln/>
        </p:spPr>
        <p:txBody>
          <a:bodyPr wrap="square" rtlCol="0" anchor="ctr"/>
          <a:lstStyle/>
          <a:p>
            <a:pPr marL="0" indent="0">
              <a:buNone/>
            </a:pPr>
            <a:r>
              <a:rPr lang="en-US" sz="1150" b="1" dirty="0">
                <a:solidFill>
                  <a:srgbClr val="111111"/>
                </a:solidFill>
                <a:latin typeface="Calibri" pitchFamily="34" charset="0"/>
                <a:ea typeface="Calibri" pitchFamily="34" charset="-122"/>
                <a:cs typeface="Calibri" pitchFamily="34" charset="-120"/>
              </a:rPr>
              <a:t>Partial k=5</a:t>
            </a:r>
            <a:endParaRPr lang="en-US" sz="1150" dirty="0"/>
          </a:p>
        </p:txBody>
      </p:sp>
      <p:sp>
        <p:nvSpPr>
          <p:cNvPr id="19" name="Text 16"/>
          <p:cNvSpPr/>
          <p:nvPr/>
        </p:nvSpPr>
        <p:spPr>
          <a:xfrm>
            <a:off x="6473952" y="3511296"/>
            <a:ext cx="2286000" cy="292608"/>
          </a:xfrm>
          <a:prstGeom prst="rect">
            <a:avLst/>
          </a:prstGeom>
          <a:noFill/>
          <a:ln/>
        </p:spPr>
        <p:txBody>
          <a:bodyPr wrap="square" rtlCol="0" anchor="ctr"/>
          <a:lstStyle/>
          <a:p>
            <a:pPr marL="0" indent="0">
              <a:buNone/>
            </a:pPr>
            <a:r>
              <a:rPr lang="en-US" sz="1000" dirty="0">
                <a:solidFill>
                  <a:srgbClr val="666666"/>
                </a:solidFill>
                <a:latin typeface="Calibri" pitchFamily="34" charset="0"/>
                <a:ea typeface="Calibri" pitchFamily="34" charset="-122"/>
                <a:cs typeface="Calibri" pitchFamily="34" charset="-120"/>
              </a:rPr>
              <a:t>Persistent non-IID bias</a:t>
            </a:r>
            <a:endParaRPr lang="en-US" sz="1000" dirty="0"/>
          </a:p>
        </p:txBody>
      </p:sp>
      <p:sp>
        <p:nvSpPr>
          <p:cNvPr id="20" name="Shape 17"/>
          <p:cNvSpPr/>
          <p:nvPr/>
        </p:nvSpPr>
        <p:spPr>
          <a:xfrm>
            <a:off x="6473952" y="3959352"/>
            <a:ext cx="2304288" cy="749808"/>
          </a:xfrm>
          <a:prstGeom prst="rect">
            <a:avLst/>
          </a:prstGeom>
          <a:solidFill>
            <a:srgbClr val="FFFFFF"/>
          </a:solidFill>
          <a:ln/>
          <a:effectLst>
            <a:outerShdw blurRad="50800" dist="25400" dir="8100000" algn="bl" rotWithShape="0">
              <a:srgbClr val="000000">
                <a:alpha val="10000"/>
              </a:srgbClr>
            </a:outerShdw>
          </a:effectLst>
        </p:spPr>
      </p:sp>
      <p:sp>
        <p:nvSpPr>
          <p:cNvPr id="21" name="Text 18"/>
          <p:cNvSpPr/>
          <p:nvPr/>
        </p:nvSpPr>
        <p:spPr>
          <a:xfrm>
            <a:off x="6473952" y="3995928"/>
            <a:ext cx="777240" cy="347472"/>
          </a:xfrm>
          <a:prstGeom prst="rect">
            <a:avLst/>
          </a:prstGeom>
          <a:noFill/>
          <a:ln/>
        </p:spPr>
        <p:txBody>
          <a:bodyPr wrap="square" rtlCol="0" anchor="ctr"/>
          <a:lstStyle/>
          <a:p>
            <a:pPr marL="0" indent="0" algn="ctr">
              <a:buNone/>
            </a:pPr>
            <a:r>
              <a:rPr lang="en-US" sz="1800" b="1" dirty="0">
                <a:solidFill>
                  <a:srgbClr val="C62828"/>
                </a:solidFill>
                <a:latin typeface="Calibri" pitchFamily="34" charset="0"/>
                <a:ea typeface="Calibri" pitchFamily="34" charset="-122"/>
                <a:cs typeface="Calibri" pitchFamily="34" charset="-120"/>
              </a:rPr>
              <a:t>11.0%</a:t>
            </a:r>
            <a:endParaRPr lang="en-US" sz="1800" dirty="0"/>
          </a:p>
        </p:txBody>
      </p:sp>
      <p:sp>
        <p:nvSpPr>
          <p:cNvPr id="22" name="Text 19"/>
          <p:cNvSpPr/>
          <p:nvPr/>
        </p:nvSpPr>
        <p:spPr>
          <a:xfrm>
            <a:off x="7269480" y="3995928"/>
            <a:ext cx="1481328" cy="292608"/>
          </a:xfrm>
          <a:prstGeom prst="rect">
            <a:avLst/>
          </a:prstGeom>
          <a:noFill/>
          <a:ln/>
        </p:spPr>
        <p:txBody>
          <a:bodyPr wrap="square" rtlCol="0" anchor="ctr"/>
          <a:lstStyle/>
          <a:p>
            <a:pPr marL="0" indent="0">
              <a:buNone/>
            </a:pPr>
            <a:r>
              <a:rPr lang="en-US" sz="1150" b="1" dirty="0">
                <a:solidFill>
                  <a:srgbClr val="111111"/>
                </a:solidFill>
                <a:latin typeface="Calibri" pitchFamily="34" charset="0"/>
                <a:ea typeface="Calibri" pitchFamily="34" charset="-122"/>
                <a:cs typeface="Calibri" pitchFamily="34" charset="-120"/>
              </a:rPr>
              <a:t>Async 1.5s</a:t>
            </a:r>
            <a:endParaRPr lang="en-US" sz="1150" dirty="0"/>
          </a:p>
        </p:txBody>
      </p:sp>
      <p:sp>
        <p:nvSpPr>
          <p:cNvPr id="23" name="Text 20"/>
          <p:cNvSpPr/>
          <p:nvPr/>
        </p:nvSpPr>
        <p:spPr>
          <a:xfrm>
            <a:off x="6473952" y="4379976"/>
            <a:ext cx="2286000" cy="292608"/>
          </a:xfrm>
          <a:prstGeom prst="rect">
            <a:avLst/>
          </a:prstGeom>
          <a:noFill/>
          <a:ln/>
        </p:spPr>
        <p:txBody>
          <a:bodyPr wrap="square" rtlCol="0" anchor="ctr"/>
          <a:lstStyle/>
          <a:p>
            <a:pPr marL="0" indent="0">
              <a:buNone/>
            </a:pPr>
            <a:r>
              <a:rPr lang="en-US" sz="1000" dirty="0">
                <a:solidFill>
                  <a:srgbClr val="666666"/>
                </a:solidFill>
                <a:latin typeface="Calibri" pitchFamily="34" charset="0"/>
                <a:ea typeface="Calibri" pitchFamily="34" charset="-122"/>
                <a:cs typeface="Calibri" pitchFamily="34" charset="-120"/>
              </a:rPr>
              <a:t>Complete failure — 0 updates collected</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0D1B2A"/>
          </a:solidFill>
          <a:ln/>
        </p:spPr>
      </p:sp>
      <p:sp>
        <p:nvSpPr>
          <p:cNvPr id="3" name="Shape 1"/>
          <p:cNvSpPr/>
          <p:nvPr/>
        </p:nvSpPr>
        <p:spPr>
          <a:xfrm>
            <a:off x="0" y="749808"/>
            <a:ext cx="9144000" cy="50292"/>
          </a:xfrm>
          <a:prstGeom prst="rect">
            <a:avLst/>
          </a:prstGeom>
          <a:solidFill>
            <a:srgbClr val="1565C0"/>
          </a:solidFill>
          <a:ln/>
        </p:spPr>
      </p:sp>
      <p:sp>
        <p:nvSpPr>
          <p:cNvPr id="4" name="Text 2"/>
          <p:cNvSpPr/>
          <p:nvPr/>
        </p:nvSpPr>
        <p:spPr>
          <a:xfrm>
            <a:off x="320040" y="54864"/>
            <a:ext cx="8503920" cy="64008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Results: Final-Round Strategy Comparison</a:t>
            </a:r>
            <a:endParaRPr lang="en-US" sz="2600" dirty="0"/>
          </a:p>
        </p:txBody>
      </p:sp>
      <p:pic>
        <p:nvPicPr>
          <p:cNvPr id="5" name="Image 0" descr="preencoded.png"/>
          <p:cNvPicPr>
            <a:picLocks noChangeAspect="1"/>
          </p:cNvPicPr>
          <p:nvPr/>
        </p:nvPicPr>
        <p:blipFill>
          <a:blip r:embed="rId3"/>
          <a:srcRect/>
          <a:stretch/>
        </p:blipFill>
        <p:spPr>
          <a:xfrm>
            <a:off x="292608" y="868680"/>
            <a:ext cx="8549640" cy="3749040"/>
          </a:xfrm>
          <a:prstGeom prst="rect">
            <a:avLst/>
          </a:prstGeom>
        </p:spPr>
      </p:pic>
      <p:sp>
        <p:nvSpPr>
          <p:cNvPr id="6" name="Text 3"/>
          <p:cNvSpPr/>
          <p:nvPr/>
        </p:nvSpPr>
        <p:spPr>
          <a:xfrm>
            <a:off x="292608" y="4681728"/>
            <a:ext cx="8549640" cy="365760"/>
          </a:xfrm>
          <a:prstGeom prst="rect">
            <a:avLst/>
          </a:prstGeom>
          <a:noFill/>
          <a:ln/>
        </p:spPr>
        <p:txBody>
          <a:bodyPr wrap="square" rtlCol="0" anchor="ctr"/>
          <a:lstStyle/>
          <a:p>
            <a:pPr marL="0" indent="0" algn="ctr">
              <a:buNone/>
            </a:pPr>
            <a:r>
              <a:rPr lang="en-US" sz="1200" b="1" dirty="0">
                <a:solidFill>
                  <a:srgbClr val="1565C0"/>
                </a:solidFill>
                <a:latin typeface="Calibri" pitchFamily="34" charset="0"/>
                <a:ea typeface="Calibri" pitchFamily="34" charset="-122"/>
                <a:cs typeface="Calibri" pitchFamily="34" charset="-120"/>
              </a:rPr>
              <a:t>★  Erasure Coded: 47.7% accuracy  ·  1.50s delay  ·  4.23 MB communication — same bandwidth as baseline with full fault tolerance</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0D1B2A"/>
          </a:solidFill>
          <a:ln/>
        </p:spPr>
      </p:sp>
      <p:sp>
        <p:nvSpPr>
          <p:cNvPr id="3" name="Shape 1"/>
          <p:cNvSpPr/>
          <p:nvPr/>
        </p:nvSpPr>
        <p:spPr>
          <a:xfrm>
            <a:off x="0" y="749808"/>
            <a:ext cx="9144000" cy="50292"/>
          </a:xfrm>
          <a:prstGeom prst="rect">
            <a:avLst/>
          </a:prstGeom>
          <a:solidFill>
            <a:srgbClr val="1565C0"/>
          </a:solidFill>
          <a:ln/>
        </p:spPr>
      </p:sp>
      <p:sp>
        <p:nvSpPr>
          <p:cNvPr id="4" name="Text 2"/>
          <p:cNvSpPr/>
          <p:nvPr/>
        </p:nvSpPr>
        <p:spPr>
          <a:xfrm>
            <a:off x="320040" y="54864"/>
            <a:ext cx="8503920" cy="64008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Results: Per-Phase Overhead Analysis</a:t>
            </a:r>
            <a:endParaRPr lang="en-US" sz="2600" dirty="0"/>
          </a:p>
        </p:txBody>
      </p:sp>
      <p:pic>
        <p:nvPicPr>
          <p:cNvPr id="5" name="Image 0" descr="preencoded.png"/>
          <p:cNvPicPr>
            <a:picLocks noChangeAspect="1"/>
          </p:cNvPicPr>
          <p:nvPr/>
        </p:nvPicPr>
        <p:blipFill>
          <a:blip r:embed="rId3"/>
          <a:srcRect/>
          <a:stretch/>
        </p:blipFill>
        <p:spPr>
          <a:xfrm>
            <a:off x="292608" y="868680"/>
            <a:ext cx="5303520" cy="2651760"/>
          </a:xfrm>
          <a:prstGeom prst="rect">
            <a:avLst/>
          </a:prstGeom>
        </p:spPr>
      </p:pic>
      <p:sp>
        <p:nvSpPr>
          <p:cNvPr id="6" name="Shape 3"/>
          <p:cNvSpPr/>
          <p:nvPr/>
        </p:nvSpPr>
        <p:spPr>
          <a:xfrm>
            <a:off x="5760720" y="868680"/>
            <a:ext cx="3090672" cy="2651760"/>
          </a:xfrm>
          <a:prstGeom prst="rect">
            <a:avLst/>
          </a:prstGeom>
          <a:solidFill>
            <a:srgbClr val="F5F5F5"/>
          </a:solidFill>
          <a:ln/>
          <a:effectLst>
            <a:outerShdw blurRad="63500" dist="25400" dir="8100000" algn="bl" rotWithShape="0">
              <a:srgbClr val="000000">
                <a:alpha val="12000"/>
              </a:srgbClr>
            </a:outerShdw>
          </a:effectLst>
        </p:spPr>
      </p:sp>
      <p:sp>
        <p:nvSpPr>
          <p:cNvPr id="7" name="Text 4"/>
          <p:cNvSpPr/>
          <p:nvPr/>
        </p:nvSpPr>
        <p:spPr>
          <a:xfrm>
            <a:off x="5833872" y="905256"/>
            <a:ext cx="2926080" cy="329184"/>
          </a:xfrm>
          <a:prstGeom prst="rect">
            <a:avLst/>
          </a:prstGeom>
          <a:noFill/>
          <a:ln/>
        </p:spPr>
        <p:txBody>
          <a:bodyPr wrap="square" rtlCol="0" anchor="ctr"/>
          <a:lstStyle/>
          <a:p>
            <a:pPr marL="0" indent="0">
              <a:buNone/>
            </a:pPr>
            <a:r>
              <a:rPr lang="en-US" sz="1300" b="1" dirty="0">
                <a:solidFill>
                  <a:srgbClr val="111111"/>
                </a:solidFill>
                <a:latin typeface="Calibri" pitchFamily="34" charset="0"/>
                <a:ea typeface="Calibri" pitchFamily="34" charset="-122"/>
                <a:cs typeface="Calibri" pitchFamily="34" charset="-120"/>
              </a:rPr>
              <a:t>Phase Breakdown</a:t>
            </a:r>
            <a:endParaRPr lang="en-US" sz="1300" dirty="0"/>
          </a:p>
        </p:txBody>
      </p:sp>
      <p:sp>
        <p:nvSpPr>
          <p:cNvPr id="8" name="Shape 5"/>
          <p:cNvSpPr/>
          <p:nvPr/>
        </p:nvSpPr>
        <p:spPr>
          <a:xfrm>
            <a:off x="5760720" y="1289304"/>
            <a:ext cx="54864" cy="256032"/>
          </a:xfrm>
          <a:prstGeom prst="rect">
            <a:avLst/>
          </a:prstGeom>
          <a:solidFill>
            <a:srgbClr val="C62828"/>
          </a:solidFill>
          <a:ln/>
        </p:spPr>
      </p:sp>
      <p:sp>
        <p:nvSpPr>
          <p:cNvPr id="9" name="Text 6"/>
          <p:cNvSpPr/>
          <p:nvPr/>
        </p:nvSpPr>
        <p:spPr>
          <a:xfrm>
            <a:off x="5888736" y="1289304"/>
            <a:ext cx="1920240" cy="274320"/>
          </a:xfrm>
          <a:prstGeom prst="rect">
            <a:avLst/>
          </a:prstGeom>
          <a:noFill/>
          <a:ln/>
        </p:spPr>
        <p:txBody>
          <a:bodyPr wrap="square" rtlCol="0" anchor="ctr"/>
          <a:lstStyle/>
          <a:p>
            <a:pPr marL="0" indent="0">
              <a:buNone/>
            </a:pPr>
            <a:r>
              <a:rPr lang="en-US" sz="1050" dirty="0">
                <a:solidFill>
                  <a:srgbClr val="111111"/>
                </a:solidFill>
                <a:latin typeface="Calibri" pitchFamily="34" charset="0"/>
                <a:ea typeface="Calibri" pitchFamily="34" charset="-122"/>
                <a:cs typeface="Calibri" pitchFamily="34" charset="-120"/>
              </a:rPr>
              <a:t>Straggler Delay</a:t>
            </a:r>
            <a:endParaRPr lang="en-US" sz="1050" dirty="0"/>
          </a:p>
        </p:txBody>
      </p:sp>
      <p:sp>
        <p:nvSpPr>
          <p:cNvPr id="10" name="Text 7"/>
          <p:cNvSpPr/>
          <p:nvPr/>
        </p:nvSpPr>
        <p:spPr>
          <a:xfrm>
            <a:off x="7827264" y="1289304"/>
            <a:ext cx="512064" cy="274320"/>
          </a:xfrm>
          <a:prstGeom prst="rect">
            <a:avLst/>
          </a:prstGeom>
          <a:noFill/>
          <a:ln/>
        </p:spPr>
        <p:txBody>
          <a:bodyPr wrap="square" rtlCol="0" anchor="ctr"/>
          <a:lstStyle/>
          <a:p>
            <a:pPr marL="0" indent="0" algn="r">
              <a:buNone/>
            </a:pPr>
            <a:r>
              <a:rPr lang="en-US" sz="1050" b="1" dirty="0">
                <a:solidFill>
                  <a:srgbClr val="C62828"/>
                </a:solidFill>
                <a:latin typeface="Calibri" pitchFamily="34" charset="0"/>
                <a:ea typeface="Calibri" pitchFamily="34" charset="-122"/>
                <a:cs typeface="Calibri" pitchFamily="34" charset="-120"/>
              </a:rPr>
              <a:t>50.3%</a:t>
            </a:r>
            <a:endParaRPr lang="en-US" sz="1050" dirty="0"/>
          </a:p>
        </p:txBody>
      </p:sp>
      <p:sp>
        <p:nvSpPr>
          <p:cNvPr id="11" name="Text 8"/>
          <p:cNvSpPr/>
          <p:nvPr/>
        </p:nvSpPr>
        <p:spPr>
          <a:xfrm>
            <a:off x="8366760" y="1289304"/>
            <a:ext cx="438912" cy="274320"/>
          </a:xfrm>
          <a:prstGeom prst="rect">
            <a:avLst/>
          </a:prstGeom>
          <a:noFill/>
          <a:ln/>
        </p:spPr>
        <p:txBody>
          <a:bodyPr wrap="square" rtlCol="0" anchor="ctr"/>
          <a:lstStyle/>
          <a:p>
            <a:pPr marL="0" indent="0" algn="r">
              <a:buNone/>
            </a:pPr>
            <a:r>
              <a:rPr lang="en-US" sz="1000" dirty="0">
                <a:solidFill>
                  <a:srgbClr val="666666"/>
                </a:solidFill>
                <a:latin typeface="Calibri" pitchFamily="34" charset="0"/>
                <a:ea typeface="Calibri" pitchFamily="34" charset="-122"/>
                <a:cs typeface="Calibri" pitchFamily="34" charset="-120"/>
              </a:rPr>
              <a:t>0.597s</a:t>
            </a:r>
            <a:endParaRPr lang="en-US" sz="1000" dirty="0"/>
          </a:p>
        </p:txBody>
      </p:sp>
      <p:sp>
        <p:nvSpPr>
          <p:cNvPr id="12" name="Shape 9"/>
          <p:cNvSpPr/>
          <p:nvPr/>
        </p:nvSpPr>
        <p:spPr>
          <a:xfrm>
            <a:off x="5760720" y="1591056"/>
            <a:ext cx="54864" cy="256032"/>
          </a:xfrm>
          <a:prstGeom prst="rect">
            <a:avLst/>
          </a:prstGeom>
          <a:solidFill>
            <a:srgbClr val="E65100"/>
          </a:solidFill>
          <a:ln/>
        </p:spPr>
      </p:sp>
      <p:sp>
        <p:nvSpPr>
          <p:cNvPr id="13" name="Text 10"/>
          <p:cNvSpPr/>
          <p:nvPr/>
        </p:nvSpPr>
        <p:spPr>
          <a:xfrm>
            <a:off x="5888736" y="1591056"/>
            <a:ext cx="1920240" cy="274320"/>
          </a:xfrm>
          <a:prstGeom prst="rect">
            <a:avLst/>
          </a:prstGeom>
          <a:noFill/>
          <a:ln/>
        </p:spPr>
        <p:txBody>
          <a:bodyPr wrap="square" rtlCol="0" anchor="ctr"/>
          <a:lstStyle/>
          <a:p>
            <a:pPr marL="0" indent="0">
              <a:buNone/>
            </a:pPr>
            <a:r>
              <a:rPr lang="en-US" sz="1050" dirty="0">
                <a:solidFill>
                  <a:srgbClr val="111111"/>
                </a:solidFill>
                <a:latin typeface="Calibri" pitchFamily="34" charset="0"/>
                <a:ea typeface="Calibri" pitchFamily="34" charset="-122"/>
                <a:cs typeface="Calibri" pitchFamily="34" charset="-120"/>
              </a:rPr>
              <a:t>Evaluation</a:t>
            </a:r>
            <a:endParaRPr lang="en-US" sz="1050" dirty="0"/>
          </a:p>
        </p:txBody>
      </p:sp>
      <p:sp>
        <p:nvSpPr>
          <p:cNvPr id="14" name="Text 11"/>
          <p:cNvSpPr/>
          <p:nvPr/>
        </p:nvSpPr>
        <p:spPr>
          <a:xfrm>
            <a:off x="7827264" y="1591056"/>
            <a:ext cx="512064" cy="274320"/>
          </a:xfrm>
          <a:prstGeom prst="rect">
            <a:avLst/>
          </a:prstGeom>
          <a:noFill/>
          <a:ln/>
        </p:spPr>
        <p:txBody>
          <a:bodyPr wrap="square" rtlCol="0" anchor="ctr"/>
          <a:lstStyle/>
          <a:p>
            <a:pPr marL="0" indent="0" algn="r">
              <a:buNone/>
            </a:pPr>
            <a:r>
              <a:rPr lang="en-US" sz="1050" b="1" dirty="0">
                <a:solidFill>
                  <a:srgbClr val="E65100"/>
                </a:solidFill>
                <a:latin typeface="Calibri" pitchFamily="34" charset="0"/>
                <a:ea typeface="Calibri" pitchFamily="34" charset="-122"/>
                <a:cs typeface="Calibri" pitchFamily="34" charset="-120"/>
              </a:rPr>
              <a:t>38.8%</a:t>
            </a:r>
            <a:endParaRPr lang="en-US" sz="1050" dirty="0"/>
          </a:p>
        </p:txBody>
      </p:sp>
      <p:sp>
        <p:nvSpPr>
          <p:cNvPr id="15" name="Text 12"/>
          <p:cNvSpPr/>
          <p:nvPr/>
        </p:nvSpPr>
        <p:spPr>
          <a:xfrm>
            <a:off x="8366760" y="1591056"/>
            <a:ext cx="438912" cy="274320"/>
          </a:xfrm>
          <a:prstGeom prst="rect">
            <a:avLst/>
          </a:prstGeom>
          <a:noFill/>
          <a:ln/>
        </p:spPr>
        <p:txBody>
          <a:bodyPr wrap="square" rtlCol="0" anchor="ctr"/>
          <a:lstStyle/>
          <a:p>
            <a:pPr marL="0" indent="0" algn="r">
              <a:buNone/>
            </a:pPr>
            <a:r>
              <a:rPr lang="en-US" sz="1000" dirty="0">
                <a:solidFill>
                  <a:srgbClr val="666666"/>
                </a:solidFill>
                <a:latin typeface="Calibri" pitchFamily="34" charset="0"/>
                <a:ea typeface="Calibri" pitchFamily="34" charset="-122"/>
                <a:cs typeface="Calibri" pitchFamily="34" charset="-120"/>
              </a:rPr>
              <a:t>0.460s</a:t>
            </a:r>
            <a:endParaRPr lang="en-US" sz="1000" dirty="0"/>
          </a:p>
        </p:txBody>
      </p:sp>
      <p:sp>
        <p:nvSpPr>
          <p:cNvPr id="16" name="Shape 13"/>
          <p:cNvSpPr/>
          <p:nvPr/>
        </p:nvSpPr>
        <p:spPr>
          <a:xfrm>
            <a:off x="5760720" y="1892808"/>
            <a:ext cx="54864" cy="256032"/>
          </a:xfrm>
          <a:prstGeom prst="rect">
            <a:avLst/>
          </a:prstGeom>
          <a:solidFill>
            <a:srgbClr val="00796B"/>
          </a:solidFill>
          <a:ln/>
        </p:spPr>
      </p:sp>
      <p:sp>
        <p:nvSpPr>
          <p:cNvPr id="17" name="Text 14"/>
          <p:cNvSpPr/>
          <p:nvPr/>
        </p:nvSpPr>
        <p:spPr>
          <a:xfrm>
            <a:off x="5888736" y="1892808"/>
            <a:ext cx="1920240" cy="274320"/>
          </a:xfrm>
          <a:prstGeom prst="rect">
            <a:avLst/>
          </a:prstGeom>
          <a:noFill/>
          <a:ln/>
        </p:spPr>
        <p:txBody>
          <a:bodyPr wrap="square" rtlCol="0" anchor="ctr"/>
          <a:lstStyle/>
          <a:p>
            <a:pPr marL="0" indent="0">
              <a:buNone/>
            </a:pPr>
            <a:r>
              <a:rPr lang="en-US" sz="1050" dirty="0">
                <a:solidFill>
                  <a:srgbClr val="111111"/>
                </a:solidFill>
                <a:latin typeface="Calibri" pitchFamily="34" charset="0"/>
                <a:ea typeface="Calibri" pitchFamily="34" charset="-122"/>
                <a:cs typeface="Calibri" pitchFamily="34" charset="-120"/>
              </a:rPr>
              <a:t>Backward Pass</a:t>
            </a:r>
            <a:endParaRPr lang="en-US" sz="1050" dirty="0"/>
          </a:p>
        </p:txBody>
      </p:sp>
      <p:sp>
        <p:nvSpPr>
          <p:cNvPr id="18" name="Text 15"/>
          <p:cNvSpPr/>
          <p:nvPr/>
        </p:nvSpPr>
        <p:spPr>
          <a:xfrm>
            <a:off x="7827264" y="1892808"/>
            <a:ext cx="512064" cy="274320"/>
          </a:xfrm>
          <a:prstGeom prst="rect">
            <a:avLst/>
          </a:prstGeom>
          <a:noFill/>
          <a:ln/>
        </p:spPr>
        <p:txBody>
          <a:bodyPr wrap="square" rtlCol="0" anchor="ctr"/>
          <a:lstStyle/>
          <a:p>
            <a:pPr marL="0" indent="0" algn="r">
              <a:buNone/>
            </a:pPr>
            <a:r>
              <a:rPr lang="en-US" sz="1050" b="1" dirty="0">
                <a:solidFill>
                  <a:srgbClr val="00796B"/>
                </a:solidFill>
                <a:latin typeface="Calibri" pitchFamily="34" charset="0"/>
                <a:ea typeface="Calibri" pitchFamily="34" charset="-122"/>
                <a:cs typeface="Calibri" pitchFamily="34" charset="-120"/>
              </a:rPr>
              <a:t>5.7%</a:t>
            </a:r>
            <a:endParaRPr lang="en-US" sz="1050" dirty="0"/>
          </a:p>
        </p:txBody>
      </p:sp>
      <p:sp>
        <p:nvSpPr>
          <p:cNvPr id="19" name="Text 16"/>
          <p:cNvSpPr/>
          <p:nvPr/>
        </p:nvSpPr>
        <p:spPr>
          <a:xfrm>
            <a:off x="8366760" y="1892808"/>
            <a:ext cx="438912" cy="274320"/>
          </a:xfrm>
          <a:prstGeom prst="rect">
            <a:avLst/>
          </a:prstGeom>
          <a:noFill/>
          <a:ln/>
        </p:spPr>
        <p:txBody>
          <a:bodyPr wrap="square" rtlCol="0" anchor="ctr"/>
          <a:lstStyle/>
          <a:p>
            <a:pPr marL="0" indent="0" algn="r">
              <a:buNone/>
            </a:pPr>
            <a:r>
              <a:rPr lang="en-US" sz="1000" dirty="0">
                <a:solidFill>
                  <a:srgbClr val="666666"/>
                </a:solidFill>
                <a:latin typeface="Calibri" pitchFamily="34" charset="0"/>
                <a:ea typeface="Calibri" pitchFamily="34" charset="-122"/>
                <a:cs typeface="Calibri" pitchFamily="34" charset="-120"/>
              </a:rPr>
              <a:t>0.068s</a:t>
            </a:r>
            <a:endParaRPr lang="en-US" sz="1000" dirty="0"/>
          </a:p>
        </p:txBody>
      </p:sp>
      <p:sp>
        <p:nvSpPr>
          <p:cNvPr id="20" name="Shape 17"/>
          <p:cNvSpPr/>
          <p:nvPr/>
        </p:nvSpPr>
        <p:spPr>
          <a:xfrm>
            <a:off x="5760720" y="2194560"/>
            <a:ext cx="54864" cy="256032"/>
          </a:xfrm>
          <a:prstGeom prst="rect">
            <a:avLst/>
          </a:prstGeom>
          <a:solidFill>
            <a:srgbClr val="00796B"/>
          </a:solidFill>
          <a:ln/>
        </p:spPr>
      </p:sp>
      <p:sp>
        <p:nvSpPr>
          <p:cNvPr id="21" name="Text 18"/>
          <p:cNvSpPr/>
          <p:nvPr/>
        </p:nvSpPr>
        <p:spPr>
          <a:xfrm>
            <a:off x="5888736" y="2194560"/>
            <a:ext cx="1920240" cy="274320"/>
          </a:xfrm>
          <a:prstGeom prst="rect">
            <a:avLst/>
          </a:prstGeom>
          <a:noFill/>
          <a:ln/>
        </p:spPr>
        <p:txBody>
          <a:bodyPr wrap="square" rtlCol="0" anchor="ctr"/>
          <a:lstStyle/>
          <a:p>
            <a:pPr marL="0" indent="0">
              <a:buNone/>
            </a:pPr>
            <a:r>
              <a:rPr lang="en-US" sz="1050" dirty="0">
                <a:solidFill>
                  <a:srgbClr val="111111"/>
                </a:solidFill>
                <a:latin typeface="Calibri" pitchFamily="34" charset="0"/>
                <a:ea typeface="Calibri" pitchFamily="34" charset="-122"/>
                <a:cs typeface="Calibri" pitchFamily="34" charset="-120"/>
              </a:rPr>
              <a:t>Forward Pass</a:t>
            </a:r>
            <a:endParaRPr lang="en-US" sz="1050" dirty="0"/>
          </a:p>
        </p:txBody>
      </p:sp>
      <p:sp>
        <p:nvSpPr>
          <p:cNvPr id="22" name="Text 19"/>
          <p:cNvSpPr/>
          <p:nvPr/>
        </p:nvSpPr>
        <p:spPr>
          <a:xfrm>
            <a:off x="7827264" y="2194560"/>
            <a:ext cx="512064" cy="274320"/>
          </a:xfrm>
          <a:prstGeom prst="rect">
            <a:avLst/>
          </a:prstGeom>
          <a:noFill/>
          <a:ln/>
        </p:spPr>
        <p:txBody>
          <a:bodyPr wrap="square" rtlCol="0" anchor="ctr"/>
          <a:lstStyle/>
          <a:p>
            <a:pPr marL="0" indent="0" algn="r">
              <a:buNone/>
            </a:pPr>
            <a:r>
              <a:rPr lang="en-US" sz="1050" b="1" dirty="0">
                <a:solidFill>
                  <a:srgbClr val="00796B"/>
                </a:solidFill>
                <a:latin typeface="Calibri" pitchFamily="34" charset="0"/>
                <a:ea typeface="Calibri" pitchFamily="34" charset="-122"/>
                <a:cs typeface="Calibri" pitchFamily="34" charset="-120"/>
              </a:rPr>
              <a:t>3.3%</a:t>
            </a:r>
            <a:endParaRPr lang="en-US" sz="1050" dirty="0"/>
          </a:p>
        </p:txBody>
      </p:sp>
      <p:sp>
        <p:nvSpPr>
          <p:cNvPr id="23" name="Text 20"/>
          <p:cNvSpPr/>
          <p:nvPr/>
        </p:nvSpPr>
        <p:spPr>
          <a:xfrm>
            <a:off x="8366760" y="2194560"/>
            <a:ext cx="438912" cy="274320"/>
          </a:xfrm>
          <a:prstGeom prst="rect">
            <a:avLst/>
          </a:prstGeom>
          <a:noFill/>
          <a:ln/>
        </p:spPr>
        <p:txBody>
          <a:bodyPr wrap="square" rtlCol="0" anchor="ctr"/>
          <a:lstStyle/>
          <a:p>
            <a:pPr marL="0" indent="0" algn="r">
              <a:buNone/>
            </a:pPr>
            <a:r>
              <a:rPr lang="en-US" sz="1000" dirty="0">
                <a:solidFill>
                  <a:srgbClr val="666666"/>
                </a:solidFill>
                <a:latin typeface="Calibri" pitchFamily="34" charset="0"/>
                <a:ea typeface="Calibri" pitchFamily="34" charset="-122"/>
                <a:cs typeface="Calibri" pitchFamily="34" charset="-120"/>
              </a:rPr>
              <a:t>0.040s</a:t>
            </a:r>
            <a:endParaRPr lang="en-US" sz="1000" dirty="0"/>
          </a:p>
        </p:txBody>
      </p:sp>
      <p:sp>
        <p:nvSpPr>
          <p:cNvPr id="24" name="Shape 21"/>
          <p:cNvSpPr/>
          <p:nvPr/>
        </p:nvSpPr>
        <p:spPr>
          <a:xfrm>
            <a:off x="5760720" y="2496312"/>
            <a:ext cx="54864" cy="256032"/>
          </a:xfrm>
          <a:prstGeom prst="rect">
            <a:avLst/>
          </a:prstGeom>
          <a:solidFill>
            <a:srgbClr val="888888"/>
          </a:solidFill>
          <a:ln/>
        </p:spPr>
      </p:sp>
      <p:sp>
        <p:nvSpPr>
          <p:cNvPr id="25" name="Text 22"/>
          <p:cNvSpPr/>
          <p:nvPr/>
        </p:nvSpPr>
        <p:spPr>
          <a:xfrm>
            <a:off x="5888736" y="2496312"/>
            <a:ext cx="1920240" cy="274320"/>
          </a:xfrm>
          <a:prstGeom prst="rect">
            <a:avLst/>
          </a:prstGeom>
          <a:noFill/>
          <a:ln/>
        </p:spPr>
        <p:txBody>
          <a:bodyPr wrap="square" rtlCol="0" anchor="ctr"/>
          <a:lstStyle/>
          <a:p>
            <a:pPr marL="0" indent="0">
              <a:buNone/>
            </a:pPr>
            <a:r>
              <a:rPr lang="en-US" sz="1050" dirty="0">
                <a:solidFill>
                  <a:srgbClr val="111111"/>
                </a:solidFill>
                <a:latin typeface="Calibri" pitchFamily="34" charset="0"/>
                <a:ea typeface="Calibri" pitchFamily="34" charset="-122"/>
                <a:cs typeface="Calibri" pitchFamily="34" charset="-120"/>
              </a:rPr>
              <a:t>Aggregation</a:t>
            </a:r>
            <a:endParaRPr lang="en-US" sz="1050" dirty="0"/>
          </a:p>
        </p:txBody>
      </p:sp>
      <p:sp>
        <p:nvSpPr>
          <p:cNvPr id="26" name="Text 23"/>
          <p:cNvSpPr/>
          <p:nvPr/>
        </p:nvSpPr>
        <p:spPr>
          <a:xfrm>
            <a:off x="7827264" y="2496312"/>
            <a:ext cx="512064" cy="274320"/>
          </a:xfrm>
          <a:prstGeom prst="rect">
            <a:avLst/>
          </a:prstGeom>
          <a:noFill/>
          <a:ln/>
        </p:spPr>
        <p:txBody>
          <a:bodyPr wrap="square" rtlCol="0" anchor="ctr"/>
          <a:lstStyle/>
          <a:p>
            <a:pPr marL="0" indent="0" algn="r">
              <a:buNone/>
            </a:pPr>
            <a:r>
              <a:rPr lang="en-US" sz="1050" b="1" dirty="0">
                <a:solidFill>
                  <a:srgbClr val="888888"/>
                </a:solidFill>
                <a:latin typeface="Calibri" pitchFamily="34" charset="0"/>
                <a:ea typeface="Calibri" pitchFamily="34" charset="-122"/>
                <a:cs typeface="Calibri" pitchFamily="34" charset="-120"/>
              </a:rPr>
              <a:t>1.8%</a:t>
            </a:r>
            <a:endParaRPr lang="en-US" sz="1050" dirty="0"/>
          </a:p>
        </p:txBody>
      </p:sp>
      <p:sp>
        <p:nvSpPr>
          <p:cNvPr id="27" name="Text 24"/>
          <p:cNvSpPr/>
          <p:nvPr/>
        </p:nvSpPr>
        <p:spPr>
          <a:xfrm>
            <a:off x="8366760" y="2496312"/>
            <a:ext cx="438912" cy="274320"/>
          </a:xfrm>
          <a:prstGeom prst="rect">
            <a:avLst/>
          </a:prstGeom>
          <a:noFill/>
          <a:ln/>
        </p:spPr>
        <p:txBody>
          <a:bodyPr wrap="square" rtlCol="0" anchor="ctr"/>
          <a:lstStyle/>
          <a:p>
            <a:pPr marL="0" indent="0" algn="r">
              <a:buNone/>
            </a:pPr>
            <a:r>
              <a:rPr lang="en-US" sz="1000" dirty="0">
                <a:solidFill>
                  <a:srgbClr val="666666"/>
                </a:solidFill>
                <a:latin typeface="Calibri" pitchFamily="34" charset="0"/>
                <a:ea typeface="Calibri" pitchFamily="34" charset="-122"/>
                <a:cs typeface="Calibri" pitchFamily="34" charset="-120"/>
              </a:rPr>
              <a:t>0.021s</a:t>
            </a:r>
            <a:endParaRPr lang="en-US" sz="1000" dirty="0"/>
          </a:p>
        </p:txBody>
      </p:sp>
      <p:sp>
        <p:nvSpPr>
          <p:cNvPr id="28" name="Shape 25"/>
          <p:cNvSpPr/>
          <p:nvPr/>
        </p:nvSpPr>
        <p:spPr>
          <a:xfrm>
            <a:off x="5760720" y="2798064"/>
            <a:ext cx="54864" cy="256032"/>
          </a:xfrm>
          <a:prstGeom prst="rect">
            <a:avLst/>
          </a:prstGeom>
          <a:solidFill>
            <a:srgbClr val="888888"/>
          </a:solidFill>
          <a:ln/>
        </p:spPr>
      </p:sp>
      <p:sp>
        <p:nvSpPr>
          <p:cNvPr id="29" name="Text 26"/>
          <p:cNvSpPr/>
          <p:nvPr/>
        </p:nvSpPr>
        <p:spPr>
          <a:xfrm>
            <a:off x="5888736" y="2798064"/>
            <a:ext cx="1920240" cy="274320"/>
          </a:xfrm>
          <a:prstGeom prst="rect">
            <a:avLst/>
          </a:prstGeom>
          <a:noFill/>
          <a:ln/>
        </p:spPr>
        <p:txBody>
          <a:bodyPr wrap="square" rtlCol="0" anchor="ctr"/>
          <a:lstStyle/>
          <a:p>
            <a:pPr marL="0" indent="0">
              <a:buNone/>
            </a:pPr>
            <a:r>
              <a:rPr lang="en-US" sz="1050" dirty="0">
                <a:solidFill>
                  <a:srgbClr val="111111"/>
                </a:solidFill>
                <a:latin typeface="Calibri" pitchFamily="34" charset="0"/>
                <a:ea typeface="Calibri" pitchFamily="34" charset="-122"/>
                <a:cs typeface="Calibri" pitchFamily="34" charset="-120"/>
              </a:rPr>
              <a:t>Serialization</a:t>
            </a:r>
            <a:endParaRPr lang="en-US" sz="1050" dirty="0"/>
          </a:p>
        </p:txBody>
      </p:sp>
      <p:sp>
        <p:nvSpPr>
          <p:cNvPr id="30" name="Text 27"/>
          <p:cNvSpPr/>
          <p:nvPr/>
        </p:nvSpPr>
        <p:spPr>
          <a:xfrm>
            <a:off x="7827264" y="2798064"/>
            <a:ext cx="512064" cy="274320"/>
          </a:xfrm>
          <a:prstGeom prst="rect">
            <a:avLst/>
          </a:prstGeom>
          <a:noFill/>
          <a:ln/>
        </p:spPr>
        <p:txBody>
          <a:bodyPr wrap="square" rtlCol="0" anchor="ctr"/>
          <a:lstStyle/>
          <a:p>
            <a:pPr marL="0" indent="0" algn="r">
              <a:buNone/>
            </a:pPr>
            <a:r>
              <a:rPr lang="en-US" sz="1050" b="1" dirty="0">
                <a:solidFill>
                  <a:srgbClr val="888888"/>
                </a:solidFill>
                <a:latin typeface="Calibri" pitchFamily="34" charset="0"/>
                <a:ea typeface="Calibri" pitchFamily="34" charset="-122"/>
                <a:cs typeface="Calibri" pitchFamily="34" charset="-120"/>
              </a:rPr>
              <a:t>0.1%</a:t>
            </a:r>
            <a:endParaRPr lang="en-US" sz="1050" dirty="0"/>
          </a:p>
        </p:txBody>
      </p:sp>
      <p:sp>
        <p:nvSpPr>
          <p:cNvPr id="31" name="Text 28"/>
          <p:cNvSpPr/>
          <p:nvPr/>
        </p:nvSpPr>
        <p:spPr>
          <a:xfrm>
            <a:off x="8366760" y="2798064"/>
            <a:ext cx="438912" cy="274320"/>
          </a:xfrm>
          <a:prstGeom prst="rect">
            <a:avLst/>
          </a:prstGeom>
          <a:noFill/>
          <a:ln/>
        </p:spPr>
        <p:txBody>
          <a:bodyPr wrap="square" rtlCol="0" anchor="ctr"/>
          <a:lstStyle/>
          <a:p>
            <a:pPr marL="0" indent="0" algn="r">
              <a:buNone/>
            </a:pPr>
            <a:r>
              <a:rPr lang="en-US" sz="1000" dirty="0">
                <a:solidFill>
                  <a:srgbClr val="666666"/>
                </a:solidFill>
                <a:latin typeface="Calibri" pitchFamily="34" charset="0"/>
                <a:ea typeface="Calibri" pitchFamily="34" charset="-122"/>
                <a:cs typeface="Calibri" pitchFamily="34" charset="-120"/>
              </a:rPr>
              <a:t>0.001s</a:t>
            </a:r>
            <a:endParaRPr lang="en-US" sz="1000" dirty="0"/>
          </a:p>
        </p:txBody>
      </p:sp>
      <p:sp>
        <p:nvSpPr>
          <p:cNvPr id="32" name="Shape 29"/>
          <p:cNvSpPr/>
          <p:nvPr/>
        </p:nvSpPr>
        <p:spPr>
          <a:xfrm>
            <a:off x="5760720" y="3099816"/>
            <a:ext cx="54864" cy="256032"/>
          </a:xfrm>
          <a:prstGeom prst="rect">
            <a:avLst/>
          </a:prstGeom>
          <a:solidFill>
            <a:srgbClr val="888888"/>
          </a:solidFill>
          <a:ln/>
        </p:spPr>
      </p:sp>
      <p:sp>
        <p:nvSpPr>
          <p:cNvPr id="33" name="Text 30"/>
          <p:cNvSpPr/>
          <p:nvPr/>
        </p:nvSpPr>
        <p:spPr>
          <a:xfrm>
            <a:off x="5888736" y="3099816"/>
            <a:ext cx="1920240" cy="274320"/>
          </a:xfrm>
          <a:prstGeom prst="rect">
            <a:avLst/>
          </a:prstGeom>
          <a:noFill/>
          <a:ln/>
        </p:spPr>
        <p:txBody>
          <a:bodyPr wrap="square" rtlCol="0" anchor="ctr"/>
          <a:lstStyle/>
          <a:p>
            <a:pPr marL="0" indent="0">
              <a:buNone/>
            </a:pPr>
            <a:r>
              <a:rPr lang="en-US" sz="1050" dirty="0">
                <a:solidFill>
                  <a:srgbClr val="111111"/>
                </a:solidFill>
                <a:latin typeface="Calibri" pitchFamily="34" charset="0"/>
                <a:ea typeface="Calibri" pitchFamily="34" charset="-122"/>
                <a:cs typeface="Calibri" pitchFamily="34" charset="-120"/>
              </a:rPr>
              <a:t>Data I/O + Comp.</a:t>
            </a:r>
            <a:endParaRPr lang="en-US" sz="1050" dirty="0"/>
          </a:p>
        </p:txBody>
      </p:sp>
      <p:sp>
        <p:nvSpPr>
          <p:cNvPr id="34" name="Text 31"/>
          <p:cNvSpPr/>
          <p:nvPr/>
        </p:nvSpPr>
        <p:spPr>
          <a:xfrm>
            <a:off x="7827264" y="3099816"/>
            <a:ext cx="512064" cy="274320"/>
          </a:xfrm>
          <a:prstGeom prst="rect">
            <a:avLst/>
          </a:prstGeom>
          <a:noFill/>
          <a:ln/>
        </p:spPr>
        <p:txBody>
          <a:bodyPr wrap="square" rtlCol="0" anchor="ctr"/>
          <a:lstStyle/>
          <a:p>
            <a:pPr marL="0" indent="0" algn="r">
              <a:buNone/>
            </a:pPr>
            <a:r>
              <a:rPr lang="en-US" sz="1050" b="1" dirty="0">
                <a:solidFill>
                  <a:srgbClr val="888888"/>
                </a:solidFill>
                <a:latin typeface="Calibri" pitchFamily="34" charset="0"/>
                <a:ea typeface="Calibri" pitchFamily="34" charset="-122"/>
                <a:cs typeface="Calibri" pitchFamily="34" charset="-120"/>
              </a:rPr>
              <a:t>0.0%</a:t>
            </a:r>
            <a:endParaRPr lang="en-US" sz="1050" dirty="0"/>
          </a:p>
        </p:txBody>
      </p:sp>
      <p:sp>
        <p:nvSpPr>
          <p:cNvPr id="35" name="Text 32"/>
          <p:cNvSpPr/>
          <p:nvPr/>
        </p:nvSpPr>
        <p:spPr>
          <a:xfrm>
            <a:off x="8366760" y="3099816"/>
            <a:ext cx="438912" cy="274320"/>
          </a:xfrm>
          <a:prstGeom prst="rect">
            <a:avLst/>
          </a:prstGeom>
          <a:noFill/>
          <a:ln/>
        </p:spPr>
        <p:txBody>
          <a:bodyPr wrap="square" rtlCol="0" anchor="ctr"/>
          <a:lstStyle/>
          <a:p>
            <a:pPr marL="0" indent="0" algn="r">
              <a:buNone/>
            </a:pPr>
            <a:r>
              <a:rPr lang="en-US" sz="1000" dirty="0">
                <a:solidFill>
                  <a:srgbClr val="666666"/>
                </a:solidFill>
                <a:latin typeface="Calibri" pitchFamily="34" charset="0"/>
                <a:ea typeface="Calibri" pitchFamily="34" charset="-122"/>
                <a:cs typeface="Calibri" pitchFamily="34" charset="-120"/>
              </a:rPr>
              <a:t>0.000s</a:t>
            </a:r>
            <a:endParaRPr lang="en-US" sz="1000" dirty="0"/>
          </a:p>
        </p:txBody>
      </p:sp>
      <p:sp>
        <p:nvSpPr>
          <p:cNvPr id="36" name="Shape 33"/>
          <p:cNvSpPr/>
          <p:nvPr/>
        </p:nvSpPr>
        <p:spPr>
          <a:xfrm>
            <a:off x="292608" y="3611880"/>
            <a:ext cx="4251960" cy="1188720"/>
          </a:xfrm>
          <a:prstGeom prst="rect">
            <a:avLst/>
          </a:prstGeom>
          <a:solidFill>
            <a:srgbClr val="FFEBEE"/>
          </a:solidFill>
          <a:ln/>
          <a:effectLst>
            <a:outerShdw blurRad="63500" dist="25400" dir="8100000" algn="bl" rotWithShape="0">
              <a:srgbClr val="000000">
                <a:alpha val="12000"/>
              </a:srgbClr>
            </a:outerShdw>
          </a:effectLst>
        </p:spPr>
      </p:sp>
      <p:sp>
        <p:nvSpPr>
          <p:cNvPr id="37" name="Shape 34"/>
          <p:cNvSpPr/>
          <p:nvPr/>
        </p:nvSpPr>
        <p:spPr>
          <a:xfrm>
            <a:off x="292608" y="3611880"/>
            <a:ext cx="54864" cy="1188720"/>
          </a:xfrm>
          <a:prstGeom prst="rect">
            <a:avLst/>
          </a:prstGeom>
          <a:solidFill>
            <a:srgbClr val="C62828"/>
          </a:solidFill>
          <a:ln/>
        </p:spPr>
      </p:sp>
      <p:sp>
        <p:nvSpPr>
          <p:cNvPr id="38" name="Text 35"/>
          <p:cNvSpPr/>
          <p:nvPr/>
        </p:nvSpPr>
        <p:spPr>
          <a:xfrm>
            <a:off x="438912" y="3657600"/>
            <a:ext cx="4005072" cy="329184"/>
          </a:xfrm>
          <a:prstGeom prst="rect">
            <a:avLst/>
          </a:prstGeom>
          <a:noFill/>
          <a:ln/>
        </p:spPr>
        <p:txBody>
          <a:bodyPr wrap="square" rtlCol="0" anchor="ctr"/>
          <a:lstStyle/>
          <a:p>
            <a:pPr marL="0" indent="0">
              <a:buNone/>
            </a:pPr>
            <a:r>
              <a:rPr lang="en-US" sz="1250" b="1" dirty="0">
                <a:solidFill>
                  <a:srgbClr val="C62828"/>
                </a:solidFill>
                <a:latin typeface="Calibri" pitchFamily="34" charset="0"/>
                <a:ea typeface="Calibri" pitchFamily="34" charset="-122"/>
                <a:cs typeface="Calibri" pitchFamily="34" charset="-120"/>
              </a:rPr>
              <a:t>Bottleneck: Straggler Delay (50.3%)</a:t>
            </a:r>
            <a:endParaRPr lang="en-US" sz="1250" dirty="0"/>
          </a:p>
        </p:txBody>
      </p:sp>
      <p:sp>
        <p:nvSpPr>
          <p:cNvPr id="39" name="Text 36"/>
          <p:cNvSpPr/>
          <p:nvPr/>
        </p:nvSpPr>
        <p:spPr>
          <a:xfrm>
            <a:off x="438912" y="4023360"/>
            <a:ext cx="4005072" cy="713232"/>
          </a:xfrm>
          <a:prstGeom prst="rect">
            <a:avLst/>
          </a:prstGeom>
          <a:noFill/>
          <a:ln/>
        </p:spPr>
        <p:txBody>
          <a:bodyPr wrap="square" rtlCol="0" anchor="ctr"/>
          <a:lstStyle/>
          <a:p>
            <a:pPr marL="0" indent="0">
              <a:buNone/>
            </a:pPr>
            <a:r>
              <a:rPr lang="en-US" sz="1150" dirty="0">
                <a:solidFill>
                  <a:srgbClr val="111111"/>
                </a:solidFill>
                <a:latin typeface="Calibri" pitchFamily="34" charset="0"/>
                <a:ea typeface="Calibri" pitchFamily="34" charset="-122"/>
                <a:cs typeface="Calibri" pitchFamily="34" charset="-120"/>
              </a:rPr>
              <a:t>Unavoidable with synchronous FL — the fundamental cost of waiting for slow clients.</a:t>
            </a:r>
            <a:endParaRPr lang="en-US" sz="1150" dirty="0"/>
          </a:p>
        </p:txBody>
      </p:sp>
      <p:sp>
        <p:nvSpPr>
          <p:cNvPr id="40" name="Shape 37"/>
          <p:cNvSpPr/>
          <p:nvPr/>
        </p:nvSpPr>
        <p:spPr>
          <a:xfrm>
            <a:off x="4736592" y="3611880"/>
            <a:ext cx="4114800" cy="1188720"/>
          </a:xfrm>
          <a:prstGeom prst="rect">
            <a:avLst/>
          </a:prstGeom>
          <a:solidFill>
            <a:srgbClr val="FFF8E1"/>
          </a:solidFill>
          <a:ln/>
          <a:effectLst>
            <a:outerShdw blurRad="63500" dist="25400" dir="8100000" algn="bl" rotWithShape="0">
              <a:srgbClr val="000000">
                <a:alpha val="12000"/>
              </a:srgbClr>
            </a:outerShdw>
          </a:effectLst>
        </p:spPr>
      </p:sp>
      <p:sp>
        <p:nvSpPr>
          <p:cNvPr id="41" name="Shape 38"/>
          <p:cNvSpPr/>
          <p:nvPr/>
        </p:nvSpPr>
        <p:spPr>
          <a:xfrm>
            <a:off x="4736592" y="3611880"/>
            <a:ext cx="54864" cy="1188720"/>
          </a:xfrm>
          <a:prstGeom prst="rect">
            <a:avLst/>
          </a:prstGeom>
          <a:solidFill>
            <a:srgbClr val="E65100"/>
          </a:solidFill>
          <a:ln/>
        </p:spPr>
      </p:sp>
      <p:sp>
        <p:nvSpPr>
          <p:cNvPr id="42" name="Text 39"/>
          <p:cNvSpPr/>
          <p:nvPr/>
        </p:nvSpPr>
        <p:spPr>
          <a:xfrm>
            <a:off x="4882896" y="3657600"/>
            <a:ext cx="3886200" cy="329184"/>
          </a:xfrm>
          <a:prstGeom prst="rect">
            <a:avLst/>
          </a:prstGeom>
          <a:noFill/>
          <a:ln/>
        </p:spPr>
        <p:txBody>
          <a:bodyPr wrap="square" rtlCol="0" anchor="ctr"/>
          <a:lstStyle/>
          <a:p>
            <a:pPr marL="0" indent="0">
              <a:buNone/>
            </a:pPr>
            <a:r>
              <a:rPr lang="en-US" sz="1250" b="1" dirty="0">
                <a:solidFill>
                  <a:srgbClr val="E65100"/>
                </a:solidFill>
                <a:latin typeface="Calibri" pitchFamily="34" charset="0"/>
                <a:ea typeface="Calibri" pitchFamily="34" charset="-122"/>
                <a:cs typeface="Calibri" pitchFamily="34" charset="-120"/>
              </a:rPr>
              <a:t>Quick Win: Evaluation (38.8%)</a:t>
            </a:r>
            <a:endParaRPr lang="en-US" sz="1250" dirty="0"/>
          </a:p>
        </p:txBody>
      </p:sp>
      <p:sp>
        <p:nvSpPr>
          <p:cNvPr id="43" name="Text 40"/>
          <p:cNvSpPr/>
          <p:nvPr/>
        </p:nvSpPr>
        <p:spPr>
          <a:xfrm>
            <a:off x="4882896" y="4023360"/>
            <a:ext cx="3886200" cy="713232"/>
          </a:xfrm>
          <a:prstGeom prst="rect">
            <a:avLst/>
          </a:prstGeom>
          <a:noFill/>
          <a:ln/>
        </p:spPr>
        <p:txBody>
          <a:bodyPr wrap="square" rtlCol="0" anchor="ctr"/>
          <a:lstStyle/>
          <a:p>
            <a:pPr marL="0" indent="0">
              <a:buNone/>
            </a:pPr>
            <a:r>
              <a:rPr lang="en-US" sz="1150" dirty="0">
                <a:solidFill>
                  <a:srgbClr val="111111"/>
                </a:solidFill>
                <a:latin typeface="Calibri" pitchFamily="34" charset="0"/>
                <a:ea typeface="Calibri" pitchFamily="34" charset="-122"/>
                <a:cs typeface="Calibri" pitchFamily="34" charset="-120"/>
              </a:rPr>
              <a:t>Running test inference every round is unnecessary in production. Evaluate every 5–10 rounds instead.</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0D1B2A"/>
          </a:solidFill>
          <a:ln/>
        </p:spPr>
      </p:sp>
      <p:sp>
        <p:nvSpPr>
          <p:cNvPr id="3" name="Shape 1"/>
          <p:cNvSpPr/>
          <p:nvPr/>
        </p:nvSpPr>
        <p:spPr>
          <a:xfrm>
            <a:off x="0" y="749808"/>
            <a:ext cx="9144000" cy="50292"/>
          </a:xfrm>
          <a:prstGeom prst="rect">
            <a:avLst/>
          </a:prstGeom>
          <a:solidFill>
            <a:srgbClr val="1565C0"/>
          </a:solidFill>
          <a:ln/>
        </p:spPr>
      </p:sp>
      <p:sp>
        <p:nvSpPr>
          <p:cNvPr id="4" name="Text 2"/>
          <p:cNvSpPr/>
          <p:nvPr/>
        </p:nvSpPr>
        <p:spPr>
          <a:xfrm>
            <a:off x="320040" y="54864"/>
            <a:ext cx="8503920" cy="64008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Quantitative Summary</a:t>
            </a:r>
            <a:endParaRPr lang="en-US" sz="2600" dirty="0"/>
          </a:p>
        </p:txBody>
      </p:sp>
      <p:sp>
        <p:nvSpPr>
          <p:cNvPr id="5" name="Shape 3"/>
          <p:cNvSpPr/>
          <p:nvPr/>
        </p:nvSpPr>
        <p:spPr>
          <a:xfrm>
            <a:off x="292608" y="914400"/>
            <a:ext cx="2651760" cy="1417320"/>
          </a:xfrm>
          <a:prstGeom prst="rect">
            <a:avLst/>
          </a:prstGeom>
          <a:solidFill>
            <a:srgbClr val="2E7D32"/>
          </a:solidFill>
          <a:ln/>
          <a:effectLst>
            <a:outerShdw blurRad="76200" dist="25400" dir="8100000" algn="bl" rotWithShape="0">
              <a:srgbClr val="000000">
                <a:alpha val="18000"/>
              </a:srgbClr>
            </a:outerShdw>
          </a:effectLst>
        </p:spPr>
      </p:sp>
      <p:sp>
        <p:nvSpPr>
          <p:cNvPr id="6" name="Text 4"/>
          <p:cNvSpPr/>
          <p:nvPr/>
        </p:nvSpPr>
        <p:spPr>
          <a:xfrm>
            <a:off x="292608" y="987552"/>
            <a:ext cx="2651760" cy="779526"/>
          </a:xfrm>
          <a:prstGeom prst="rect">
            <a:avLst/>
          </a:prstGeom>
          <a:noFill/>
          <a:ln/>
        </p:spPr>
        <p:txBody>
          <a:bodyPr wrap="square" rtlCol="0" anchor="b"/>
          <a:lstStyle/>
          <a:p>
            <a:pPr marL="0" indent="0" algn="ctr">
              <a:buNone/>
            </a:pPr>
            <a:r>
              <a:rPr lang="en-US" sz="2800" b="1" dirty="0">
                <a:solidFill>
                  <a:srgbClr val="FFFFFF"/>
                </a:solidFill>
                <a:latin typeface="Calibri" pitchFamily="34" charset="0"/>
                <a:ea typeface="Calibri" pitchFamily="34" charset="-122"/>
                <a:cs typeface="Calibri" pitchFamily="34" charset="-120"/>
              </a:rPr>
              <a:t>47.7%</a:t>
            </a:r>
            <a:endParaRPr lang="en-US" sz="2800" dirty="0"/>
          </a:p>
        </p:txBody>
      </p:sp>
      <p:sp>
        <p:nvSpPr>
          <p:cNvPr id="7" name="Text 5"/>
          <p:cNvSpPr/>
          <p:nvPr/>
        </p:nvSpPr>
        <p:spPr>
          <a:xfrm>
            <a:off x="292608" y="1764792"/>
            <a:ext cx="2651760" cy="538582"/>
          </a:xfrm>
          <a:prstGeom prst="rect">
            <a:avLst/>
          </a:prstGeom>
          <a:noFill/>
          <a:ln/>
        </p:spPr>
        <p:txBody>
          <a:bodyPr wrap="square" rtlCol="0" anchor="t"/>
          <a:lstStyle/>
          <a:p>
            <a:pPr marL="0" indent="0" algn="ctr">
              <a:buNone/>
            </a:pPr>
            <a:r>
              <a:rPr lang="en-US" sz="1100" dirty="0">
                <a:solidFill>
                  <a:srgbClr val="FFFFFF"/>
                </a:solidFill>
                <a:latin typeface="Calibri" pitchFamily="34" charset="0"/>
                <a:ea typeface="Calibri" pitchFamily="34" charset="-122"/>
                <a:cs typeface="Calibri" pitchFamily="34" charset="-120"/>
              </a:rPr>
              <a:t>Erasure Coded</a:t>
            </a:r>
            <a:endParaRPr lang="en-US" sz="1100" dirty="0"/>
          </a:p>
          <a:p>
            <a:pPr marL="0" indent="0" algn="ctr">
              <a:buNone/>
            </a:pPr>
            <a:r>
              <a:rPr lang="en-US" sz="1100" dirty="0">
                <a:solidFill>
                  <a:srgbClr val="FFFFFF"/>
                </a:solidFill>
                <a:latin typeface="Calibri" pitchFamily="34" charset="0"/>
                <a:ea typeface="Calibri" pitchFamily="34" charset="-122"/>
                <a:cs typeface="Calibri" pitchFamily="34" charset="-120"/>
              </a:rPr>
              <a:t>Final Accuracy</a:t>
            </a:r>
            <a:endParaRPr lang="en-US" sz="1100" dirty="0"/>
          </a:p>
        </p:txBody>
      </p:sp>
      <p:sp>
        <p:nvSpPr>
          <p:cNvPr id="8" name="Shape 6"/>
          <p:cNvSpPr/>
          <p:nvPr/>
        </p:nvSpPr>
        <p:spPr>
          <a:xfrm>
            <a:off x="3127248" y="914400"/>
            <a:ext cx="2651760" cy="1417320"/>
          </a:xfrm>
          <a:prstGeom prst="rect">
            <a:avLst/>
          </a:prstGeom>
          <a:solidFill>
            <a:srgbClr val="1565C0"/>
          </a:solidFill>
          <a:ln/>
          <a:effectLst>
            <a:outerShdw blurRad="76200" dist="25400" dir="8100000" algn="bl" rotWithShape="0">
              <a:srgbClr val="000000">
                <a:alpha val="18000"/>
              </a:srgbClr>
            </a:outerShdw>
          </a:effectLst>
        </p:spPr>
      </p:sp>
      <p:sp>
        <p:nvSpPr>
          <p:cNvPr id="9" name="Text 7"/>
          <p:cNvSpPr/>
          <p:nvPr/>
        </p:nvSpPr>
        <p:spPr>
          <a:xfrm>
            <a:off x="3127248" y="987552"/>
            <a:ext cx="2651760" cy="779526"/>
          </a:xfrm>
          <a:prstGeom prst="rect">
            <a:avLst/>
          </a:prstGeom>
          <a:noFill/>
          <a:ln/>
        </p:spPr>
        <p:txBody>
          <a:bodyPr wrap="square" rtlCol="0" anchor="b"/>
          <a:lstStyle/>
          <a:p>
            <a:pPr marL="0" indent="0" algn="ctr">
              <a:buNone/>
            </a:pPr>
            <a:r>
              <a:rPr lang="en-US" sz="2800" b="1" dirty="0">
                <a:solidFill>
                  <a:srgbClr val="FFFFFF"/>
                </a:solidFill>
                <a:latin typeface="Calibri" pitchFamily="34" charset="0"/>
                <a:ea typeface="Calibri" pitchFamily="34" charset="-122"/>
                <a:cs typeface="Calibri" pitchFamily="34" charset="-120"/>
              </a:rPr>
              <a:t>2.1 pp</a:t>
            </a:r>
            <a:endParaRPr lang="en-US" sz="2800" dirty="0"/>
          </a:p>
        </p:txBody>
      </p:sp>
      <p:sp>
        <p:nvSpPr>
          <p:cNvPr id="10" name="Text 8"/>
          <p:cNvSpPr/>
          <p:nvPr/>
        </p:nvSpPr>
        <p:spPr>
          <a:xfrm>
            <a:off x="3127248" y="1764792"/>
            <a:ext cx="2651760" cy="538582"/>
          </a:xfrm>
          <a:prstGeom prst="rect">
            <a:avLst/>
          </a:prstGeom>
          <a:noFill/>
          <a:ln/>
        </p:spPr>
        <p:txBody>
          <a:bodyPr wrap="square" rtlCol="0" anchor="t"/>
          <a:lstStyle/>
          <a:p>
            <a:pPr marL="0" indent="0" algn="ctr">
              <a:buNone/>
            </a:pPr>
            <a:r>
              <a:rPr lang="en-US" sz="1100" dirty="0">
                <a:solidFill>
                  <a:srgbClr val="FFFFFF"/>
                </a:solidFill>
                <a:latin typeface="Calibri" pitchFamily="34" charset="0"/>
                <a:ea typeface="Calibri" pitchFamily="34" charset="-122"/>
                <a:cs typeface="Calibri" pitchFamily="34" charset="-120"/>
              </a:rPr>
              <a:t>Below Baseline</a:t>
            </a:r>
            <a:endParaRPr lang="en-US" sz="1100" dirty="0"/>
          </a:p>
          <a:p>
            <a:pPr marL="0" indent="0" algn="ctr">
              <a:buNone/>
            </a:pPr>
            <a:r>
              <a:rPr lang="en-US" sz="1100" dirty="0">
                <a:solidFill>
                  <a:srgbClr val="FFFFFF"/>
                </a:solidFill>
                <a:latin typeface="Calibri" pitchFamily="34" charset="0"/>
                <a:ea typeface="Calibri" pitchFamily="34" charset="-122"/>
                <a:cs typeface="Calibri" pitchFamily="34" charset="-120"/>
              </a:rPr>
              <a:t>(49.8%)</a:t>
            </a:r>
            <a:endParaRPr lang="en-US" sz="1100" dirty="0"/>
          </a:p>
        </p:txBody>
      </p:sp>
      <p:sp>
        <p:nvSpPr>
          <p:cNvPr id="11" name="Shape 9"/>
          <p:cNvSpPr/>
          <p:nvPr/>
        </p:nvSpPr>
        <p:spPr>
          <a:xfrm>
            <a:off x="5961888" y="914400"/>
            <a:ext cx="2578608" cy="1417320"/>
          </a:xfrm>
          <a:prstGeom prst="rect">
            <a:avLst/>
          </a:prstGeom>
          <a:solidFill>
            <a:srgbClr val="00796B"/>
          </a:solidFill>
          <a:ln/>
          <a:effectLst>
            <a:outerShdw blurRad="76200" dist="25400" dir="8100000" algn="bl" rotWithShape="0">
              <a:srgbClr val="000000">
                <a:alpha val="18000"/>
              </a:srgbClr>
            </a:outerShdw>
          </a:effectLst>
        </p:spPr>
      </p:sp>
      <p:sp>
        <p:nvSpPr>
          <p:cNvPr id="12" name="Text 10"/>
          <p:cNvSpPr/>
          <p:nvPr/>
        </p:nvSpPr>
        <p:spPr>
          <a:xfrm>
            <a:off x="5961888" y="987552"/>
            <a:ext cx="2578608" cy="779526"/>
          </a:xfrm>
          <a:prstGeom prst="rect">
            <a:avLst/>
          </a:prstGeom>
          <a:noFill/>
          <a:ln/>
        </p:spPr>
        <p:txBody>
          <a:bodyPr wrap="square" rtlCol="0" anchor="b"/>
          <a:lstStyle/>
          <a:p>
            <a:pPr marL="0" indent="0" algn="ctr">
              <a:buNone/>
            </a:pPr>
            <a:r>
              <a:rPr lang="en-US" sz="2800" b="1" dirty="0">
                <a:solidFill>
                  <a:srgbClr val="FFFFFF"/>
                </a:solidFill>
                <a:latin typeface="Calibri" pitchFamily="34" charset="0"/>
                <a:ea typeface="Calibri" pitchFamily="34" charset="-122"/>
                <a:cs typeface="Calibri" pitchFamily="34" charset="-120"/>
              </a:rPr>
              <a:t>4.23 MB</a:t>
            </a:r>
            <a:endParaRPr lang="en-US" sz="2800" dirty="0"/>
          </a:p>
        </p:txBody>
      </p:sp>
      <p:sp>
        <p:nvSpPr>
          <p:cNvPr id="13" name="Text 11"/>
          <p:cNvSpPr/>
          <p:nvPr/>
        </p:nvSpPr>
        <p:spPr>
          <a:xfrm>
            <a:off x="5961888" y="1764792"/>
            <a:ext cx="2578608" cy="538582"/>
          </a:xfrm>
          <a:prstGeom prst="rect">
            <a:avLst/>
          </a:prstGeom>
          <a:noFill/>
          <a:ln/>
        </p:spPr>
        <p:txBody>
          <a:bodyPr wrap="square" rtlCol="0" anchor="t"/>
          <a:lstStyle/>
          <a:p>
            <a:pPr marL="0" indent="0" algn="ctr">
              <a:buNone/>
            </a:pPr>
            <a:r>
              <a:rPr lang="en-US" sz="1100" dirty="0">
                <a:solidFill>
                  <a:srgbClr val="FFFFFF"/>
                </a:solidFill>
                <a:latin typeface="Calibri" pitchFamily="34" charset="0"/>
                <a:ea typeface="Calibri" pitchFamily="34" charset="-122"/>
                <a:cs typeface="Calibri" pitchFamily="34" charset="-120"/>
              </a:rPr>
              <a:t>Communication</a:t>
            </a:r>
            <a:endParaRPr lang="en-US" sz="1100" dirty="0"/>
          </a:p>
          <a:p>
            <a:pPr marL="0" indent="0" algn="ctr">
              <a:buNone/>
            </a:pPr>
            <a:r>
              <a:rPr lang="en-US" sz="1100" dirty="0">
                <a:solidFill>
                  <a:srgbClr val="FFFFFF"/>
                </a:solidFill>
                <a:latin typeface="Calibri" pitchFamily="34" charset="0"/>
                <a:ea typeface="Calibri" pitchFamily="34" charset="-122"/>
                <a:cs typeface="Calibri" pitchFamily="34" charset="-120"/>
              </a:rPr>
              <a:t>(same as Baseline)</a:t>
            </a:r>
            <a:endParaRPr lang="en-US" sz="11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292608" y="2450592"/>
          <a:ext cx="8549640" cy="2304288"/>
        </p:xfrm>
        <a:graphic>
          <a:graphicData uri="http://schemas.openxmlformats.org/drawingml/2006/table">
            <a:tbl>
              <a:tblPr/>
              <a:tblGrid>
                <a:gridCol w="1709928">
                  <a:extLst>
                    <a:ext uri="{9D8B030D-6E8A-4147-A177-3AD203B41FA5}">
                      <a16:colId xmlns:a16="http://schemas.microsoft.com/office/drawing/2014/main" val="20000"/>
                    </a:ext>
                  </a:extLst>
                </a:gridCol>
                <a:gridCol w="1709928">
                  <a:extLst>
                    <a:ext uri="{9D8B030D-6E8A-4147-A177-3AD203B41FA5}">
                      <a16:colId xmlns:a16="http://schemas.microsoft.com/office/drawing/2014/main" val="20001"/>
                    </a:ext>
                  </a:extLst>
                </a:gridCol>
                <a:gridCol w="1709928">
                  <a:extLst>
                    <a:ext uri="{9D8B030D-6E8A-4147-A177-3AD203B41FA5}">
                      <a16:colId xmlns:a16="http://schemas.microsoft.com/office/drawing/2014/main" val="20002"/>
                    </a:ext>
                  </a:extLst>
                </a:gridCol>
                <a:gridCol w="1709928">
                  <a:extLst>
                    <a:ext uri="{9D8B030D-6E8A-4147-A177-3AD203B41FA5}">
                      <a16:colId xmlns:a16="http://schemas.microsoft.com/office/drawing/2014/main" val="20003"/>
                    </a:ext>
                  </a:extLst>
                </a:gridCol>
                <a:gridCol w="1709928">
                  <a:extLst>
                    <a:ext uri="{9D8B030D-6E8A-4147-A177-3AD203B41FA5}">
                      <a16:colId xmlns:a16="http://schemas.microsoft.com/office/drawing/2014/main" val="20004"/>
                    </a:ext>
                  </a:extLst>
                </a:gridCol>
              </a:tblGrid>
              <a:tr h="384048">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Strategy</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0D1B2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Accuracy</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0D1B2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Delay</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0D1B2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Comm.</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0D1B2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Data Loss?</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0D1B2A"/>
                    </a:solidFill>
                  </a:tcPr>
                </a:tc>
                <a:extLst>
                  <a:ext uri="{0D108BD9-81ED-4DB2-BD59-A6C34878D82A}">
                    <a16:rowId xmlns:a16="http://schemas.microsoft.com/office/drawing/2014/main" val="10000"/>
                  </a:ext>
                </a:extLst>
              </a:tr>
              <a:tr h="384048">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Baseline</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49.8% ✓</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1.61s</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4.23 MB</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None (waits forever)</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Partial (k=5)</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41.9%</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1.95s</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2.12 MB</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Yes — 50% excluded</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2"/>
                  </a:ext>
                </a:extLst>
              </a:tr>
              <a:tr h="384048">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Deadline 8s</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44.3%</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1.30s</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4.23 MB</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Yes — round 1 wasted</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3"/>
                  </a:ext>
                </a:extLst>
              </a:tr>
              <a:tr h="384048">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Async 1.5s</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11.0% ✗</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0.00s</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0 MB</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100% — zero updates</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4"/>
                  </a:ext>
                </a:extLst>
              </a:tr>
              <a:tr h="384048">
                <a:tc>
                  <a:txBody>
                    <a:bodyPr/>
                    <a:lstStyle/>
                    <a:p>
                      <a:pPr marL="0" indent="0">
                        <a:buNone/>
                      </a:pPr>
                      <a:r>
                        <a:rPr lang="en-US" sz="1200" b="1" dirty="0">
                          <a:solidFill>
                            <a:srgbClr val="2E7D32"/>
                          </a:solidFill>
                          <a:latin typeface="Calibri" pitchFamily="34" charset="0"/>
                          <a:ea typeface="Calibri" pitchFamily="34" charset="-122"/>
                          <a:cs typeface="Calibri" pitchFamily="34" charset="-120"/>
                        </a:rPr>
                        <a:t>Erasure Coded ★</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5E9"/>
                    </a:solidFill>
                  </a:tcPr>
                </a:tc>
                <a:tc>
                  <a:txBody>
                    <a:bodyPr/>
                    <a:lstStyle/>
                    <a:p>
                      <a:pPr marL="0" indent="0">
                        <a:buNone/>
                      </a:pPr>
                      <a:r>
                        <a:rPr lang="en-US" sz="1200" b="1" dirty="0">
                          <a:solidFill>
                            <a:srgbClr val="2E7D32"/>
                          </a:solidFill>
                          <a:latin typeface="Calibri" pitchFamily="34" charset="0"/>
                          <a:ea typeface="Calibri" pitchFamily="34" charset="-122"/>
                          <a:cs typeface="Calibri" pitchFamily="34" charset="-120"/>
                        </a:rPr>
                        <a:t>47.7% ✓</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buNone/>
                      </a:pPr>
                      <a:r>
                        <a:rPr lang="en-US" sz="1200" dirty="0">
                          <a:solidFill>
                            <a:srgbClr val="111111"/>
                          </a:solidFill>
                          <a:latin typeface="Calibri" pitchFamily="34" charset="0"/>
                          <a:ea typeface="Calibri" pitchFamily="34" charset="-122"/>
                          <a:cs typeface="Calibri" pitchFamily="34" charset="-120"/>
                        </a:rPr>
                        <a:t>1.50s</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buNone/>
                      </a:pPr>
                      <a:r>
                        <a:rPr lang="en-US" sz="1200" b="1" dirty="0">
                          <a:solidFill>
                            <a:srgbClr val="1565C0"/>
                          </a:solidFill>
                          <a:latin typeface="Calibri" pitchFamily="34" charset="0"/>
                          <a:ea typeface="Calibri" pitchFamily="34" charset="-122"/>
                          <a:cs typeface="Calibri" pitchFamily="34" charset="-120"/>
                        </a:rPr>
                        <a:t>4.23 MB</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buNone/>
                      </a:pPr>
                      <a:r>
                        <a:rPr lang="en-US" sz="1200" b="1" dirty="0">
                          <a:solidFill>
                            <a:srgbClr val="2E7D32"/>
                          </a:solidFill>
                          <a:latin typeface="Calibri" pitchFamily="34" charset="0"/>
                          <a:ea typeface="Calibri" pitchFamily="34" charset="-122"/>
                          <a:cs typeface="Calibri" pitchFamily="34" charset="-120"/>
                        </a:rPr>
                        <a:t>None ✓</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0D1B2A"/>
          </a:solidFill>
          <a:ln/>
        </p:spPr>
      </p:sp>
      <p:sp>
        <p:nvSpPr>
          <p:cNvPr id="3" name="Shape 1"/>
          <p:cNvSpPr/>
          <p:nvPr/>
        </p:nvSpPr>
        <p:spPr>
          <a:xfrm>
            <a:off x="0" y="749808"/>
            <a:ext cx="9144000" cy="50292"/>
          </a:xfrm>
          <a:prstGeom prst="rect">
            <a:avLst/>
          </a:prstGeom>
          <a:solidFill>
            <a:srgbClr val="1565C0"/>
          </a:solidFill>
          <a:ln/>
        </p:spPr>
      </p:sp>
      <p:sp>
        <p:nvSpPr>
          <p:cNvPr id="4" name="Text 2"/>
          <p:cNvSpPr/>
          <p:nvPr/>
        </p:nvSpPr>
        <p:spPr>
          <a:xfrm>
            <a:off x="320040" y="54864"/>
            <a:ext cx="8503920" cy="64008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Limitations — Honest Assessment</a:t>
            </a:r>
            <a:endParaRPr lang="en-US" sz="2600" dirty="0"/>
          </a:p>
        </p:txBody>
      </p:sp>
      <p:sp>
        <p:nvSpPr>
          <p:cNvPr id="5" name="Shape 3"/>
          <p:cNvSpPr/>
          <p:nvPr/>
        </p:nvSpPr>
        <p:spPr>
          <a:xfrm>
            <a:off x="292608" y="914400"/>
            <a:ext cx="8549640" cy="868680"/>
          </a:xfrm>
          <a:prstGeom prst="rect">
            <a:avLst/>
          </a:prstGeom>
          <a:solidFill>
            <a:srgbClr val="FFFFFF"/>
          </a:solidFill>
          <a:ln/>
          <a:effectLst>
            <a:outerShdw blurRad="76200" dist="25400" dir="8100000" algn="bl" rotWithShape="0">
              <a:srgbClr val="000000">
                <a:alpha val="14000"/>
              </a:srgbClr>
            </a:outerShdw>
          </a:effectLst>
        </p:spPr>
      </p:sp>
      <p:sp>
        <p:nvSpPr>
          <p:cNvPr id="6" name="Shape 4"/>
          <p:cNvSpPr/>
          <p:nvPr/>
        </p:nvSpPr>
        <p:spPr>
          <a:xfrm>
            <a:off x="292608" y="914400"/>
            <a:ext cx="73152" cy="868680"/>
          </a:xfrm>
          <a:prstGeom prst="rect">
            <a:avLst/>
          </a:prstGeom>
          <a:solidFill>
            <a:srgbClr val="E65100"/>
          </a:solidFill>
          <a:ln/>
        </p:spPr>
      </p:sp>
      <p:sp>
        <p:nvSpPr>
          <p:cNvPr id="7" name="Text 5"/>
          <p:cNvSpPr/>
          <p:nvPr/>
        </p:nvSpPr>
        <p:spPr>
          <a:xfrm>
            <a:off x="475488" y="1005840"/>
            <a:ext cx="8229600" cy="292608"/>
          </a:xfrm>
          <a:prstGeom prst="rect">
            <a:avLst/>
          </a:prstGeom>
          <a:noFill/>
          <a:ln/>
        </p:spPr>
        <p:txBody>
          <a:bodyPr wrap="square" lIns="0" tIns="0" rIns="0" bIns="0" rtlCol="0" anchor="ctr"/>
          <a:lstStyle/>
          <a:p>
            <a:pPr marL="0" indent="0">
              <a:buNone/>
            </a:pPr>
            <a:r>
              <a:rPr lang="en-US" sz="1400" b="1" dirty="0">
                <a:solidFill>
                  <a:srgbClr val="111111"/>
                </a:solidFill>
                <a:latin typeface="Calibri" pitchFamily="34" charset="0"/>
                <a:ea typeface="Calibri" pitchFamily="34" charset="-122"/>
                <a:cs typeface="Calibri" pitchFamily="34" charset="-120"/>
              </a:rPr>
              <a:t>Simulated Delays Only</a:t>
            </a:r>
            <a:endParaRPr lang="en-US" sz="1400" dirty="0"/>
          </a:p>
        </p:txBody>
      </p:sp>
      <p:sp>
        <p:nvSpPr>
          <p:cNvPr id="8" name="Text 6"/>
          <p:cNvSpPr/>
          <p:nvPr/>
        </p:nvSpPr>
        <p:spPr>
          <a:xfrm>
            <a:off x="475488" y="1344168"/>
            <a:ext cx="8229600" cy="384048"/>
          </a:xfrm>
          <a:prstGeom prst="rect">
            <a:avLst/>
          </a:prstGeom>
          <a:noFill/>
          <a:ln/>
        </p:spPr>
        <p:txBody>
          <a:bodyPr wrap="square" lIns="0" tIns="0" rIns="0" bIns="0" rtlCol="0" anchor="ctr"/>
          <a:lstStyle/>
          <a:p>
            <a:pPr marL="0" indent="0">
              <a:buNone/>
            </a:pPr>
            <a:r>
              <a:rPr lang="en-US" sz="1200" dirty="0">
                <a:solidFill>
                  <a:srgbClr val="333333"/>
                </a:solidFill>
                <a:latin typeface="Calibri" pitchFamily="34" charset="0"/>
                <a:ea typeface="Calibri" pitchFamily="34" charset="-122"/>
                <a:cs typeface="Calibri" pitchFamily="34" charset="-120"/>
              </a:rPr>
              <a:t>All client delays injected via time.sleep() — not real network latency or hardware variability. Real deployment may behave differently.</a:t>
            </a:r>
            <a:endParaRPr lang="en-US" sz="1200" dirty="0"/>
          </a:p>
        </p:txBody>
      </p:sp>
      <p:sp>
        <p:nvSpPr>
          <p:cNvPr id="9" name="Shape 7"/>
          <p:cNvSpPr/>
          <p:nvPr/>
        </p:nvSpPr>
        <p:spPr>
          <a:xfrm>
            <a:off x="292608" y="1920240"/>
            <a:ext cx="8549640" cy="868680"/>
          </a:xfrm>
          <a:prstGeom prst="rect">
            <a:avLst/>
          </a:prstGeom>
          <a:solidFill>
            <a:srgbClr val="FFFFFF"/>
          </a:solidFill>
          <a:ln/>
          <a:effectLst>
            <a:outerShdw blurRad="76200" dist="25400" dir="8100000" algn="bl" rotWithShape="0">
              <a:srgbClr val="000000">
                <a:alpha val="14000"/>
              </a:srgbClr>
            </a:outerShdw>
          </a:effectLst>
        </p:spPr>
      </p:sp>
      <p:sp>
        <p:nvSpPr>
          <p:cNvPr id="10" name="Shape 8"/>
          <p:cNvSpPr/>
          <p:nvPr/>
        </p:nvSpPr>
        <p:spPr>
          <a:xfrm>
            <a:off x="292608" y="1920240"/>
            <a:ext cx="73152" cy="868680"/>
          </a:xfrm>
          <a:prstGeom prst="rect">
            <a:avLst/>
          </a:prstGeom>
          <a:solidFill>
            <a:srgbClr val="C62828"/>
          </a:solidFill>
          <a:ln/>
        </p:spPr>
      </p:sp>
      <p:sp>
        <p:nvSpPr>
          <p:cNvPr id="11" name="Text 9"/>
          <p:cNvSpPr/>
          <p:nvPr/>
        </p:nvSpPr>
        <p:spPr>
          <a:xfrm>
            <a:off x="475488" y="2011680"/>
            <a:ext cx="8229600" cy="292608"/>
          </a:xfrm>
          <a:prstGeom prst="rect">
            <a:avLst/>
          </a:prstGeom>
          <a:noFill/>
          <a:ln/>
        </p:spPr>
        <p:txBody>
          <a:bodyPr wrap="square" lIns="0" tIns="0" rIns="0" bIns="0" rtlCol="0" anchor="ctr"/>
          <a:lstStyle/>
          <a:p>
            <a:pPr marL="0" indent="0">
              <a:buNone/>
            </a:pPr>
            <a:r>
              <a:rPr lang="en-US" sz="1400" b="1" dirty="0">
                <a:solidFill>
                  <a:srgbClr val="111111"/>
                </a:solidFill>
                <a:latin typeface="Calibri" pitchFamily="34" charset="0"/>
                <a:ea typeface="Calibri" pitchFamily="34" charset="-122"/>
                <a:cs typeface="Calibri" pitchFamily="34" charset="-120"/>
              </a:rPr>
              <a:t>Fixed Straggler Set</a:t>
            </a:r>
            <a:endParaRPr lang="en-US" sz="1400" dirty="0"/>
          </a:p>
        </p:txBody>
      </p:sp>
      <p:sp>
        <p:nvSpPr>
          <p:cNvPr id="12" name="Text 10"/>
          <p:cNvSpPr/>
          <p:nvPr/>
        </p:nvSpPr>
        <p:spPr>
          <a:xfrm>
            <a:off x="475488" y="2350008"/>
            <a:ext cx="8229600" cy="384048"/>
          </a:xfrm>
          <a:prstGeom prst="rect">
            <a:avLst/>
          </a:prstGeom>
          <a:noFill/>
          <a:ln/>
        </p:spPr>
        <p:txBody>
          <a:bodyPr wrap="square" lIns="0" tIns="0" rIns="0" bIns="0" rtlCol="0" anchor="ctr"/>
          <a:lstStyle/>
          <a:p>
            <a:pPr marL="0" indent="0">
              <a:buNone/>
            </a:pPr>
            <a:r>
              <a:rPr lang="en-US" sz="1200" dirty="0">
                <a:solidFill>
                  <a:srgbClr val="333333"/>
                </a:solidFill>
                <a:latin typeface="Calibri" pitchFamily="34" charset="0"/>
                <a:ea typeface="Calibri" pitchFamily="34" charset="-122"/>
                <a:cs typeface="Calibri" pitchFamily="34" charset="-120"/>
              </a:rPr>
              <a:t>The scheme protects only clients 0–9 (known in advance). Any client can become a straggler in practice — dynamic reassignment needed.</a:t>
            </a:r>
            <a:endParaRPr lang="en-US" sz="1200" dirty="0"/>
          </a:p>
        </p:txBody>
      </p:sp>
      <p:sp>
        <p:nvSpPr>
          <p:cNvPr id="13" name="Shape 11"/>
          <p:cNvSpPr/>
          <p:nvPr/>
        </p:nvSpPr>
        <p:spPr>
          <a:xfrm>
            <a:off x="292608" y="2926080"/>
            <a:ext cx="8549640" cy="868680"/>
          </a:xfrm>
          <a:prstGeom prst="rect">
            <a:avLst/>
          </a:prstGeom>
          <a:solidFill>
            <a:srgbClr val="FFFFFF"/>
          </a:solidFill>
          <a:ln/>
          <a:effectLst>
            <a:outerShdw blurRad="76200" dist="25400" dir="8100000" algn="bl" rotWithShape="0">
              <a:srgbClr val="000000">
                <a:alpha val="14000"/>
              </a:srgbClr>
            </a:outerShdw>
          </a:effectLst>
        </p:spPr>
      </p:sp>
      <p:sp>
        <p:nvSpPr>
          <p:cNvPr id="14" name="Shape 12"/>
          <p:cNvSpPr/>
          <p:nvPr/>
        </p:nvSpPr>
        <p:spPr>
          <a:xfrm>
            <a:off x="292608" y="2926080"/>
            <a:ext cx="73152" cy="868680"/>
          </a:xfrm>
          <a:prstGeom prst="rect">
            <a:avLst/>
          </a:prstGeom>
          <a:solidFill>
            <a:srgbClr val="E65100"/>
          </a:solidFill>
          <a:ln/>
        </p:spPr>
      </p:sp>
      <p:sp>
        <p:nvSpPr>
          <p:cNvPr id="15" name="Text 13"/>
          <p:cNvSpPr/>
          <p:nvPr/>
        </p:nvSpPr>
        <p:spPr>
          <a:xfrm>
            <a:off x="475488" y="3017520"/>
            <a:ext cx="8229600" cy="292608"/>
          </a:xfrm>
          <a:prstGeom prst="rect">
            <a:avLst/>
          </a:prstGeom>
          <a:noFill/>
          <a:ln/>
        </p:spPr>
        <p:txBody>
          <a:bodyPr wrap="square" lIns="0" tIns="0" rIns="0" bIns="0" rtlCol="0" anchor="ctr"/>
          <a:lstStyle/>
          <a:p>
            <a:pPr marL="0" indent="0">
              <a:buNone/>
            </a:pPr>
            <a:r>
              <a:rPr lang="en-US" sz="1400" b="1" dirty="0">
                <a:solidFill>
                  <a:srgbClr val="111111"/>
                </a:solidFill>
                <a:latin typeface="Calibri" pitchFamily="34" charset="0"/>
                <a:ea typeface="Calibri" pitchFamily="34" charset="-122"/>
                <a:cs typeface="Calibri" pitchFamily="34" charset="-120"/>
              </a:rPr>
              <a:t>100-Node Accuracy Gap</a:t>
            </a:r>
            <a:endParaRPr lang="en-US" sz="1400" dirty="0"/>
          </a:p>
        </p:txBody>
      </p:sp>
      <p:sp>
        <p:nvSpPr>
          <p:cNvPr id="16" name="Text 14"/>
          <p:cNvSpPr/>
          <p:nvPr/>
        </p:nvSpPr>
        <p:spPr>
          <a:xfrm>
            <a:off x="475488" y="3355848"/>
            <a:ext cx="8229600" cy="384048"/>
          </a:xfrm>
          <a:prstGeom prst="rect">
            <a:avLst/>
          </a:prstGeom>
          <a:noFill/>
          <a:ln/>
        </p:spPr>
        <p:txBody>
          <a:bodyPr wrap="square" lIns="0" tIns="0" rIns="0" bIns="0" rtlCol="0" anchor="ctr"/>
          <a:lstStyle/>
          <a:p>
            <a:pPr marL="0" indent="0">
              <a:buNone/>
            </a:pPr>
            <a:r>
              <a:rPr lang="en-US" sz="1200" dirty="0">
                <a:solidFill>
                  <a:srgbClr val="333333"/>
                </a:solidFill>
                <a:latin typeface="Calibri" pitchFamily="34" charset="0"/>
                <a:ea typeface="Calibri" pitchFamily="34" charset="-122"/>
                <a:cs typeface="Calibri" pitchFamily="34" charset="-120"/>
              </a:rPr>
              <a:t>36.5% vs 49.8% baseline. Greater non-IID heterogeneity + more clients + only 5 rounds. More training rounds would close this gap.</a:t>
            </a:r>
            <a:endParaRPr lang="en-US" sz="1200" dirty="0"/>
          </a:p>
        </p:txBody>
      </p:sp>
      <p:sp>
        <p:nvSpPr>
          <p:cNvPr id="17" name="Shape 15"/>
          <p:cNvSpPr/>
          <p:nvPr/>
        </p:nvSpPr>
        <p:spPr>
          <a:xfrm>
            <a:off x="292608" y="3931920"/>
            <a:ext cx="8549640" cy="868680"/>
          </a:xfrm>
          <a:prstGeom prst="rect">
            <a:avLst/>
          </a:prstGeom>
          <a:solidFill>
            <a:srgbClr val="FFFFFF"/>
          </a:solidFill>
          <a:ln/>
          <a:effectLst>
            <a:outerShdw blurRad="76200" dist="25400" dir="8100000" algn="bl" rotWithShape="0">
              <a:srgbClr val="000000">
                <a:alpha val="14000"/>
              </a:srgbClr>
            </a:outerShdw>
          </a:effectLst>
        </p:spPr>
      </p:sp>
      <p:sp>
        <p:nvSpPr>
          <p:cNvPr id="18" name="Shape 16"/>
          <p:cNvSpPr/>
          <p:nvPr/>
        </p:nvSpPr>
        <p:spPr>
          <a:xfrm>
            <a:off x="292608" y="3931920"/>
            <a:ext cx="73152" cy="868680"/>
          </a:xfrm>
          <a:prstGeom prst="rect">
            <a:avLst/>
          </a:prstGeom>
          <a:solidFill>
            <a:srgbClr val="888888"/>
          </a:solidFill>
          <a:ln/>
        </p:spPr>
      </p:sp>
      <p:sp>
        <p:nvSpPr>
          <p:cNvPr id="19" name="Text 17"/>
          <p:cNvSpPr/>
          <p:nvPr/>
        </p:nvSpPr>
        <p:spPr>
          <a:xfrm>
            <a:off x="475488" y="4023360"/>
            <a:ext cx="8229600" cy="292608"/>
          </a:xfrm>
          <a:prstGeom prst="rect">
            <a:avLst/>
          </a:prstGeom>
          <a:noFill/>
          <a:ln/>
        </p:spPr>
        <p:txBody>
          <a:bodyPr wrap="square" lIns="0" tIns="0" rIns="0" bIns="0" rtlCol="0" anchor="ctr"/>
          <a:lstStyle/>
          <a:p>
            <a:pPr marL="0" indent="0">
              <a:buNone/>
            </a:pPr>
            <a:r>
              <a:rPr lang="en-US" sz="1400" b="1" dirty="0">
                <a:solidFill>
                  <a:srgbClr val="111111"/>
                </a:solidFill>
                <a:latin typeface="Calibri" pitchFamily="34" charset="0"/>
                <a:ea typeface="Calibri" pitchFamily="34" charset="-122"/>
                <a:cs typeface="Calibri" pitchFamily="34" charset="-120"/>
              </a:rPr>
              <a:t>Sequential Simulation Bias</a:t>
            </a:r>
            <a:endParaRPr lang="en-US" sz="1400" dirty="0"/>
          </a:p>
        </p:txBody>
      </p:sp>
      <p:sp>
        <p:nvSpPr>
          <p:cNvPr id="20" name="Text 18"/>
          <p:cNvSpPr/>
          <p:nvPr/>
        </p:nvSpPr>
        <p:spPr>
          <a:xfrm>
            <a:off x="475488" y="4361688"/>
            <a:ext cx="8229600" cy="384048"/>
          </a:xfrm>
          <a:prstGeom prst="rect">
            <a:avLst/>
          </a:prstGeom>
          <a:noFill/>
          <a:ln/>
        </p:spPr>
        <p:txBody>
          <a:bodyPr wrap="square" lIns="0" tIns="0" rIns="0" bIns="0" rtlCol="0" anchor="ctr"/>
          <a:lstStyle/>
          <a:p>
            <a:pPr marL="0" indent="0">
              <a:buNone/>
            </a:pPr>
            <a:r>
              <a:rPr lang="en-US" sz="1200" dirty="0">
                <a:solidFill>
                  <a:srgbClr val="333333"/>
                </a:solidFill>
                <a:latin typeface="Calibri" pitchFamily="34" charset="0"/>
                <a:ea typeface="Calibri" pitchFamily="34" charset="-122"/>
                <a:cs typeface="Calibri" pitchFamily="34" charset="-120"/>
              </a:rPr>
              <a:t>Flower runs clients sequentially in one process. CPU measured at 0.0% — does not reflect true parallel load on real hardware.</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0D1B2A"/>
          </a:solidFill>
          <a:ln/>
        </p:spPr>
      </p:sp>
      <p:sp>
        <p:nvSpPr>
          <p:cNvPr id="3" name="Shape 1"/>
          <p:cNvSpPr/>
          <p:nvPr/>
        </p:nvSpPr>
        <p:spPr>
          <a:xfrm>
            <a:off x="0" y="749808"/>
            <a:ext cx="9144000" cy="50292"/>
          </a:xfrm>
          <a:prstGeom prst="rect">
            <a:avLst/>
          </a:prstGeom>
          <a:solidFill>
            <a:srgbClr val="1565C0"/>
          </a:solidFill>
          <a:ln/>
        </p:spPr>
      </p:sp>
      <p:sp>
        <p:nvSpPr>
          <p:cNvPr id="4" name="Text 2"/>
          <p:cNvSpPr/>
          <p:nvPr/>
        </p:nvSpPr>
        <p:spPr>
          <a:xfrm>
            <a:off x="320040" y="54864"/>
            <a:ext cx="8503920" cy="64008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Future Work</a:t>
            </a:r>
            <a:endParaRPr lang="en-US" sz="2600" dirty="0"/>
          </a:p>
        </p:txBody>
      </p:sp>
      <p:sp>
        <p:nvSpPr>
          <p:cNvPr id="5" name="Shape 3"/>
          <p:cNvSpPr/>
          <p:nvPr/>
        </p:nvSpPr>
        <p:spPr>
          <a:xfrm>
            <a:off x="292608" y="914400"/>
            <a:ext cx="4187952" cy="1207008"/>
          </a:xfrm>
          <a:prstGeom prst="rect">
            <a:avLst/>
          </a:prstGeom>
          <a:solidFill>
            <a:srgbClr val="FFFFFF"/>
          </a:solidFill>
          <a:ln/>
          <a:effectLst>
            <a:outerShdw blurRad="88900" dist="25400" dir="8100000" algn="bl" rotWithShape="0">
              <a:srgbClr val="000000">
                <a:alpha val="15000"/>
              </a:srgbClr>
            </a:outerShdw>
          </a:effectLst>
        </p:spPr>
      </p:sp>
      <p:sp>
        <p:nvSpPr>
          <p:cNvPr id="6" name="Shape 4"/>
          <p:cNvSpPr/>
          <p:nvPr/>
        </p:nvSpPr>
        <p:spPr>
          <a:xfrm>
            <a:off x="292608" y="914400"/>
            <a:ext cx="4187952" cy="384048"/>
          </a:xfrm>
          <a:prstGeom prst="rect">
            <a:avLst/>
          </a:prstGeom>
          <a:solidFill>
            <a:srgbClr val="1565C0"/>
          </a:solidFill>
          <a:ln/>
        </p:spPr>
      </p:sp>
      <p:sp>
        <p:nvSpPr>
          <p:cNvPr id="7" name="Text 5"/>
          <p:cNvSpPr/>
          <p:nvPr/>
        </p:nvSpPr>
        <p:spPr>
          <a:xfrm>
            <a:off x="402336" y="914400"/>
            <a:ext cx="4050792" cy="384048"/>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1. Real Hardware Deployment</a:t>
            </a:r>
            <a:endParaRPr lang="en-US" sz="1250" dirty="0"/>
          </a:p>
        </p:txBody>
      </p:sp>
      <p:sp>
        <p:nvSpPr>
          <p:cNvPr id="8" name="Text 6"/>
          <p:cNvSpPr/>
          <p:nvPr/>
        </p:nvSpPr>
        <p:spPr>
          <a:xfrm>
            <a:off x="402336" y="1371600"/>
            <a:ext cx="4023360" cy="685800"/>
          </a:xfrm>
          <a:prstGeom prst="rect">
            <a:avLst/>
          </a:prstGeom>
          <a:noFill/>
          <a:ln/>
        </p:spPr>
        <p:txBody>
          <a:bodyPr wrap="square" rtlCol="0" anchor="ctr"/>
          <a:lstStyle/>
          <a:p>
            <a:pPr marL="0" indent="0">
              <a:buNone/>
            </a:pPr>
            <a:r>
              <a:rPr lang="en-US" sz="1150" dirty="0">
                <a:solidFill>
                  <a:srgbClr val="111111"/>
                </a:solidFill>
                <a:latin typeface="Calibri" pitchFamily="34" charset="0"/>
                <a:ea typeface="Calibri" pitchFamily="34" charset="-122"/>
                <a:cs typeface="Calibri" pitchFamily="34" charset="-120"/>
              </a:rPr>
              <a:t>HPC cluster or cloud — real network latency, true parallel execution</a:t>
            </a:r>
            <a:endParaRPr lang="en-US" sz="1150" dirty="0"/>
          </a:p>
        </p:txBody>
      </p:sp>
      <p:sp>
        <p:nvSpPr>
          <p:cNvPr id="9" name="Shape 7"/>
          <p:cNvSpPr/>
          <p:nvPr/>
        </p:nvSpPr>
        <p:spPr>
          <a:xfrm>
            <a:off x="292608" y="2267712"/>
            <a:ext cx="4187952" cy="1207008"/>
          </a:xfrm>
          <a:prstGeom prst="rect">
            <a:avLst/>
          </a:prstGeom>
          <a:solidFill>
            <a:srgbClr val="FFFFFF"/>
          </a:solidFill>
          <a:ln/>
          <a:effectLst>
            <a:outerShdw blurRad="88900" dist="25400" dir="8100000" algn="bl" rotWithShape="0">
              <a:srgbClr val="000000">
                <a:alpha val="15000"/>
              </a:srgbClr>
            </a:outerShdw>
          </a:effectLst>
        </p:spPr>
      </p:sp>
      <p:sp>
        <p:nvSpPr>
          <p:cNvPr id="10" name="Shape 8"/>
          <p:cNvSpPr/>
          <p:nvPr/>
        </p:nvSpPr>
        <p:spPr>
          <a:xfrm>
            <a:off x="292608" y="2267712"/>
            <a:ext cx="4187952" cy="384048"/>
          </a:xfrm>
          <a:prstGeom prst="rect">
            <a:avLst/>
          </a:prstGeom>
          <a:solidFill>
            <a:srgbClr val="C62828"/>
          </a:solidFill>
          <a:ln/>
        </p:spPr>
      </p:sp>
      <p:sp>
        <p:nvSpPr>
          <p:cNvPr id="11" name="Text 9"/>
          <p:cNvSpPr/>
          <p:nvPr/>
        </p:nvSpPr>
        <p:spPr>
          <a:xfrm>
            <a:off x="402336" y="2267712"/>
            <a:ext cx="4050792" cy="384048"/>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2. Dynamic Straggler Assignment</a:t>
            </a:r>
            <a:endParaRPr lang="en-US" sz="1250" dirty="0"/>
          </a:p>
        </p:txBody>
      </p:sp>
      <p:sp>
        <p:nvSpPr>
          <p:cNvPr id="12" name="Text 10"/>
          <p:cNvSpPr/>
          <p:nvPr/>
        </p:nvSpPr>
        <p:spPr>
          <a:xfrm>
            <a:off x="402336" y="2724912"/>
            <a:ext cx="4023360" cy="685800"/>
          </a:xfrm>
          <a:prstGeom prst="rect">
            <a:avLst/>
          </a:prstGeom>
          <a:noFill/>
          <a:ln/>
        </p:spPr>
        <p:txBody>
          <a:bodyPr wrap="square" rtlCol="0" anchor="ctr"/>
          <a:lstStyle/>
          <a:p>
            <a:pPr marL="0" indent="0">
              <a:buNone/>
            </a:pPr>
            <a:r>
              <a:rPr lang="en-US" sz="1150" dirty="0">
                <a:solidFill>
                  <a:srgbClr val="111111"/>
                </a:solidFill>
                <a:latin typeface="Calibri" pitchFamily="34" charset="0"/>
                <a:ea typeface="Calibri" pitchFamily="34" charset="-122"/>
                <a:cs typeface="Calibri" pitchFamily="34" charset="-120"/>
              </a:rPr>
              <a:t>Protect arbitrary, changing straggler sets — not a fixed set known in advance</a:t>
            </a:r>
            <a:endParaRPr lang="en-US" sz="1150" dirty="0"/>
          </a:p>
        </p:txBody>
      </p:sp>
      <p:sp>
        <p:nvSpPr>
          <p:cNvPr id="13" name="Shape 11"/>
          <p:cNvSpPr/>
          <p:nvPr/>
        </p:nvSpPr>
        <p:spPr>
          <a:xfrm>
            <a:off x="292608" y="3621024"/>
            <a:ext cx="4187952" cy="1207008"/>
          </a:xfrm>
          <a:prstGeom prst="rect">
            <a:avLst/>
          </a:prstGeom>
          <a:solidFill>
            <a:srgbClr val="FFFFFF"/>
          </a:solidFill>
          <a:ln/>
          <a:effectLst>
            <a:outerShdw blurRad="88900" dist="25400" dir="8100000" algn="bl" rotWithShape="0">
              <a:srgbClr val="000000">
                <a:alpha val="15000"/>
              </a:srgbClr>
            </a:outerShdw>
          </a:effectLst>
        </p:spPr>
      </p:sp>
      <p:sp>
        <p:nvSpPr>
          <p:cNvPr id="14" name="Shape 12"/>
          <p:cNvSpPr/>
          <p:nvPr/>
        </p:nvSpPr>
        <p:spPr>
          <a:xfrm>
            <a:off x="292608" y="3621024"/>
            <a:ext cx="4187952" cy="384048"/>
          </a:xfrm>
          <a:prstGeom prst="rect">
            <a:avLst/>
          </a:prstGeom>
          <a:solidFill>
            <a:srgbClr val="00796B"/>
          </a:solidFill>
          <a:ln/>
        </p:spPr>
      </p:sp>
      <p:sp>
        <p:nvSpPr>
          <p:cNvPr id="15" name="Text 13"/>
          <p:cNvSpPr/>
          <p:nvPr/>
        </p:nvSpPr>
        <p:spPr>
          <a:xfrm>
            <a:off x="402336" y="3621024"/>
            <a:ext cx="4050792" cy="384048"/>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3. Convergence at Scale</a:t>
            </a:r>
            <a:endParaRPr lang="en-US" sz="1250" dirty="0"/>
          </a:p>
        </p:txBody>
      </p:sp>
      <p:sp>
        <p:nvSpPr>
          <p:cNvPr id="16" name="Text 14"/>
          <p:cNvSpPr/>
          <p:nvPr/>
        </p:nvSpPr>
        <p:spPr>
          <a:xfrm>
            <a:off x="402336" y="4078224"/>
            <a:ext cx="4023360" cy="685800"/>
          </a:xfrm>
          <a:prstGeom prst="rect">
            <a:avLst/>
          </a:prstGeom>
          <a:noFill/>
          <a:ln/>
        </p:spPr>
        <p:txBody>
          <a:bodyPr wrap="square" rtlCol="0" anchor="ctr"/>
          <a:lstStyle/>
          <a:p>
            <a:pPr marL="0" indent="0">
              <a:buNone/>
            </a:pPr>
            <a:r>
              <a:rPr lang="en-US" sz="1150" dirty="0">
                <a:solidFill>
                  <a:srgbClr val="111111"/>
                </a:solidFill>
                <a:latin typeface="Calibri" pitchFamily="34" charset="0"/>
                <a:ea typeface="Calibri" pitchFamily="34" charset="-122"/>
                <a:cs typeface="Calibri" pitchFamily="34" charset="-120"/>
              </a:rPr>
              <a:t>More rounds + LR tuning at 100 nodes + FedProx/SCAFFOLD for non-IID stabilization</a:t>
            </a:r>
            <a:endParaRPr lang="en-US" sz="1150" dirty="0"/>
          </a:p>
        </p:txBody>
      </p:sp>
      <p:sp>
        <p:nvSpPr>
          <p:cNvPr id="17" name="Shape 15"/>
          <p:cNvSpPr/>
          <p:nvPr/>
        </p:nvSpPr>
        <p:spPr>
          <a:xfrm>
            <a:off x="4681728" y="914400"/>
            <a:ext cx="4187952" cy="1207008"/>
          </a:xfrm>
          <a:prstGeom prst="rect">
            <a:avLst/>
          </a:prstGeom>
          <a:solidFill>
            <a:srgbClr val="FFFFFF"/>
          </a:solidFill>
          <a:ln/>
          <a:effectLst>
            <a:outerShdw blurRad="88900" dist="25400" dir="8100000" algn="bl" rotWithShape="0">
              <a:srgbClr val="000000">
                <a:alpha val="15000"/>
              </a:srgbClr>
            </a:outerShdw>
          </a:effectLst>
        </p:spPr>
      </p:sp>
      <p:sp>
        <p:nvSpPr>
          <p:cNvPr id="18" name="Shape 16"/>
          <p:cNvSpPr/>
          <p:nvPr/>
        </p:nvSpPr>
        <p:spPr>
          <a:xfrm>
            <a:off x="4681728" y="914400"/>
            <a:ext cx="4187952" cy="384048"/>
          </a:xfrm>
          <a:prstGeom prst="rect">
            <a:avLst/>
          </a:prstGeom>
          <a:solidFill>
            <a:srgbClr val="E65100"/>
          </a:solidFill>
          <a:ln/>
        </p:spPr>
      </p:sp>
      <p:sp>
        <p:nvSpPr>
          <p:cNvPr id="19" name="Text 17"/>
          <p:cNvSpPr/>
          <p:nvPr/>
        </p:nvSpPr>
        <p:spPr>
          <a:xfrm>
            <a:off x="4791456" y="914400"/>
            <a:ext cx="4050792" cy="384048"/>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4. Reduce Evaluation Overhead</a:t>
            </a:r>
            <a:endParaRPr lang="en-US" sz="1250" dirty="0"/>
          </a:p>
        </p:txBody>
      </p:sp>
      <p:sp>
        <p:nvSpPr>
          <p:cNvPr id="20" name="Text 18"/>
          <p:cNvSpPr/>
          <p:nvPr/>
        </p:nvSpPr>
        <p:spPr>
          <a:xfrm>
            <a:off x="4791456" y="1371600"/>
            <a:ext cx="4023360" cy="685800"/>
          </a:xfrm>
          <a:prstGeom prst="rect">
            <a:avLst/>
          </a:prstGeom>
          <a:noFill/>
          <a:ln/>
        </p:spPr>
        <p:txBody>
          <a:bodyPr wrap="square" rtlCol="0" anchor="ctr"/>
          <a:lstStyle/>
          <a:p>
            <a:pPr marL="0" indent="0">
              <a:buNone/>
            </a:pPr>
            <a:r>
              <a:rPr lang="en-US" sz="1150" dirty="0">
                <a:solidFill>
                  <a:srgbClr val="111111"/>
                </a:solidFill>
                <a:latin typeface="Calibri" pitchFamily="34" charset="0"/>
                <a:ea typeface="Calibri" pitchFamily="34" charset="-122"/>
                <a:cs typeface="Calibri" pitchFamily="34" charset="-120"/>
              </a:rPr>
              <a:t>Evaluate every 5–10 rounds instead of every round → 38.8% overhead eliminated</a:t>
            </a:r>
            <a:endParaRPr lang="en-US" sz="1150" dirty="0"/>
          </a:p>
        </p:txBody>
      </p:sp>
      <p:sp>
        <p:nvSpPr>
          <p:cNvPr id="21" name="Shape 19"/>
          <p:cNvSpPr/>
          <p:nvPr/>
        </p:nvSpPr>
        <p:spPr>
          <a:xfrm>
            <a:off x="4681728" y="2267712"/>
            <a:ext cx="4187952" cy="1207008"/>
          </a:xfrm>
          <a:prstGeom prst="rect">
            <a:avLst/>
          </a:prstGeom>
          <a:solidFill>
            <a:srgbClr val="FFFFFF"/>
          </a:solidFill>
          <a:ln/>
          <a:effectLst>
            <a:outerShdw blurRad="88900" dist="25400" dir="8100000" algn="bl" rotWithShape="0">
              <a:srgbClr val="000000">
                <a:alpha val="15000"/>
              </a:srgbClr>
            </a:outerShdw>
          </a:effectLst>
        </p:spPr>
      </p:sp>
      <p:sp>
        <p:nvSpPr>
          <p:cNvPr id="22" name="Shape 20"/>
          <p:cNvSpPr/>
          <p:nvPr/>
        </p:nvSpPr>
        <p:spPr>
          <a:xfrm>
            <a:off x="4681728" y="2267712"/>
            <a:ext cx="4187952" cy="384048"/>
          </a:xfrm>
          <a:prstGeom prst="rect">
            <a:avLst/>
          </a:prstGeom>
          <a:solidFill>
            <a:srgbClr val="2E7D32"/>
          </a:solidFill>
          <a:ln/>
        </p:spPr>
      </p:sp>
      <p:sp>
        <p:nvSpPr>
          <p:cNvPr id="23" name="Text 21"/>
          <p:cNvSpPr/>
          <p:nvPr/>
        </p:nvSpPr>
        <p:spPr>
          <a:xfrm>
            <a:off x="4791456" y="2267712"/>
            <a:ext cx="4050792" cy="384048"/>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5. Differential Privacy</a:t>
            </a:r>
            <a:endParaRPr lang="en-US" sz="1250" dirty="0"/>
          </a:p>
        </p:txBody>
      </p:sp>
      <p:sp>
        <p:nvSpPr>
          <p:cNvPr id="24" name="Text 22"/>
          <p:cNvSpPr/>
          <p:nvPr/>
        </p:nvSpPr>
        <p:spPr>
          <a:xfrm>
            <a:off x="4791456" y="2724912"/>
            <a:ext cx="4023360" cy="685800"/>
          </a:xfrm>
          <a:prstGeom prst="rect">
            <a:avLst/>
          </a:prstGeom>
          <a:noFill/>
          <a:ln/>
        </p:spPr>
        <p:txBody>
          <a:bodyPr wrap="square" rtlCol="0" anchor="ctr"/>
          <a:lstStyle/>
          <a:p>
            <a:pPr marL="0" indent="0">
              <a:buNone/>
            </a:pPr>
            <a:r>
              <a:rPr lang="en-US" sz="1150" dirty="0">
                <a:solidFill>
                  <a:srgbClr val="111111"/>
                </a:solidFill>
                <a:latin typeface="Calibri" pitchFamily="34" charset="0"/>
                <a:ea typeface="Calibri" pitchFamily="34" charset="-122"/>
                <a:cs typeface="Calibri" pitchFamily="34" charset="-120"/>
              </a:rPr>
              <a:t>Combine erasure coding with DP-SGD to address straggler tolerance AND data privacy</a:t>
            </a:r>
            <a:endParaRPr lang="en-US" sz="1150" dirty="0"/>
          </a:p>
        </p:txBody>
      </p:sp>
      <p:sp>
        <p:nvSpPr>
          <p:cNvPr id="25" name="Shape 23"/>
          <p:cNvSpPr/>
          <p:nvPr/>
        </p:nvSpPr>
        <p:spPr>
          <a:xfrm>
            <a:off x="4681728" y="3621024"/>
            <a:ext cx="4187952" cy="1207008"/>
          </a:xfrm>
          <a:prstGeom prst="rect">
            <a:avLst/>
          </a:prstGeom>
          <a:solidFill>
            <a:srgbClr val="FFFFFF"/>
          </a:solidFill>
          <a:ln/>
          <a:effectLst>
            <a:outerShdw blurRad="88900" dist="25400" dir="8100000" algn="bl" rotWithShape="0">
              <a:srgbClr val="000000">
                <a:alpha val="15000"/>
              </a:srgbClr>
            </a:outerShdw>
          </a:effectLst>
        </p:spPr>
      </p:sp>
      <p:sp>
        <p:nvSpPr>
          <p:cNvPr id="26" name="Shape 24"/>
          <p:cNvSpPr/>
          <p:nvPr/>
        </p:nvSpPr>
        <p:spPr>
          <a:xfrm>
            <a:off x="4681728" y="3621024"/>
            <a:ext cx="4187952" cy="384048"/>
          </a:xfrm>
          <a:prstGeom prst="rect">
            <a:avLst/>
          </a:prstGeom>
          <a:solidFill>
            <a:srgbClr val="0D1B2A"/>
          </a:solidFill>
          <a:ln/>
        </p:spPr>
      </p:sp>
      <p:sp>
        <p:nvSpPr>
          <p:cNvPr id="27" name="Text 25"/>
          <p:cNvSpPr/>
          <p:nvPr/>
        </p:nvSpPr>
        <p:spPr>
          <a:xfrm>
            <a:off x="4791456" y="3621024"/>
            <a:ext cx="4050792" cy="384048"/>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6. Quantization on Parity Updates</a:t>
            </a:r>
            <a:endParaRPr lang="en-US" sz="1250" dirty="0"/>
          </a:p>
        </p:txBody>
      </p:sp>
      <p:sp>
        <p:nvSpPr>
          <p:cNvPr id="28" name="Text 26"/>
          <p:cNvSpPr/>
          <p:nvPr/>
        </p:nvSpPr>
        <p:spPr>
          <a:xfrm>
            <a:off x="4791456" y="4078224"/>
            <a:ext cx="4023360" cy="685800"/>
          </a:xfrm>
          <a:prstGeom prst="rect">
            <a:avLst/>
          </a:prstGeom>
          <a:noFill/>
          <a:ln/>
        </p:spPr>
        <p:txBody>
          <a:bodyPr wrap="square" rtlCol="0" anchor="ctr"/>
          <a:lstStyle/>
          <a:p>
            <a:pPr marL="0" indent="0">
              <a:buNone/>
            </a:pPr>
            <a:r>
              <a:rPr lang="en-US" sz="1150" dirty="0">
                <a:solidFill>
                  <a:srgbClr val="111111"/>
                </a:solidFill>
                <a:latin typeface="Calibri" pitchFamily="34" charset="0"/>
                <a:ea typeface="Calibri" pitchFamily="34" charset="-122"/>
                <a:cs typeface="Calibri" pitchFamily="34" charset="-120"/>
              </a:rPr>
              <a:t>Apply QSGD/gradient compression to reduce 42.35 MB/round at 100-node scale</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4480560"/>
            <a:ext cx="9144000" cy="662940"/>
          </a:xfrm>
          <a:prstGeom prst="rect">
            <a:avLst/>
          </a:prstGeom>
          <a:solidFill>
            <a:srgbClr val="1565C0"/>
          </a:solidFill>
          <a:ln/>
        </p:spPr>
      </p:sp>
      <p:sp>
        <p:nvSpPr>
          <p:cNvPr id="3" name="Text 1"/>
          <p:cNvSpPr/>
          <p:nvPr/>
        </p:nvSpPr>
        <p:spPr>
          <a:xfrm>
            <a:off x="457200" y="228600"/>
            <a:ext cx="8229600" cy="685800"/>
          </a:xfrm>
          <a:prstGeom prst="rect">
            <a:avLst/>
          </a:prstGeom>
          <a:noFill/>
          <a:ln/>
        </p:spPr>
        <p:txBody>
          <a:bodyPr wrap="square"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Key Takeaways</a:t>
            </a:r>
            <a:endParaRPr lang="en-US" sz="3200" dirty="0"/>
          </a:p>
        </p:txBody>
      </p:sp>
      <p:sp>
        <p:nvSpPr>
          <p:cNvPr id="4" name="Shape 2"/>
          <p:cNvSpPr/>
          <p:nvPr/>
        </p:nvSpPr>
        <p:spPr>
          <a:xfrm>
            <a:off x="457200" y="932688"/>
            <a:ext cx="8229600" cy="0"/>
          </a:xfrm>
          <a:prstGeom prst="line">
            <a:avLst/>
          </a:prstGeom>
          <a:noFill/>
          <a:ln w="19050">
            <a:solidFill>
              <a:srgbClr val="1565C0"/>
            </a:solidFill>
            <a:prstDash val="solid"/>
          </a:ln>
        </p:spPr>
      </p:sp>
      <p:sp>
        <p:nvSpPr>
          <p:cNvPr id="5" name="Shape 3"/>
          <p:cNvSpPr/>
          <p:nvPr/>
        </p:nvSpPr>
        <p:spPr>
          <a:xfrm>
            <a:off x="384048" y="1115568"/>
            <a:ext cx="438912" cy="438912"/>
          </a:xfrm>
          <a:prstGeom prst="ellipse">
            <a:avLst/>
          </a:prstGeom>
          <a:solidFill>
            <a:srgbClr val="00796B"/>
          </a:solidFill>
          <a:ln/>
        </p:spPr>
      </p:sp>
      <p:sp>
        <p:nvSpPr>
          <p:cNvPr id="6" name="Text 4"/>
          <p:cNvSpPr/>
          <p:nvPr/>
        </p:nvSpPr>
        <p:spPr>
          <a:xfrm>
            <a:off x="384048" y="1115568"/>
            <a:ext cx="438912" cy="438912"/>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7" name="Text 5"/>
          <p:cNvSpPr/>
          <p:nvPr/>
        </p:nvSpPr>
        <p:spPr>
          <a:xfrm>
            <a:off x="960120" y="1060704"/>
            <a:ext cx="7772400" cy="274320"/>
          </a:xfrm>
          <a:prstGeom prst="rect">
            <a:avLst/>
          </a:prstGeom>
          <a:noFill/>
          <a:ln/>
        </p:spPr>
        <p:txBody>
          <a:bodyPr wrap="square"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Erasure coding eliminates the accuracy–speed tradeoff</a:t>
            </a:r>
            <a:endParaRPr lang="en-US" sz="1350" dirty="0"/>
          </a:p>
        </p:txBody>
      </p:sp>
      <p:sp>
        <p:nvSpPr>
          <p:cNvPr id="8" name="Text 6"/>
          <p:cNvSpPr/>
          <p:nvPr/>
        </p:nvSpPr>
        <p:spPr>
          <a:xfrm>
            <a:off x="960120" y="1353312"/>
            <a:ext cx="7772400" cy="274320"/>
          </a:xfrm>
          <a:prstGeom prst="rect">
            <a:avLst/>
          </a:prstGeom>
          <a:noFill/>
          <a:ln/>
        </p:spPr>
        <p:txBody>
          <a:bodyPr wrap="square" rtlCol="0" anchor="ctr"/>
          <a:lstStyle/>
          <a:p>
            <a:pPr marL="0" indent="0">
              <a:buNone/>
            </a:pPr>
            <a:r>
              <a:rPr lang="en-US" sz="1150" dirty="0">
                <a:solidFill>
                  <a:srgbClr val="B0BEC5"/>
                </a:solidFill>
                <a:latin typeface="Calibri" pitchFamily="34" charset="0"/>
                <a:ea typeface="Calibri" pitchFamily="34" charset="-122"/>
                <a:cs typeface="Calibri" pitchFamily="34" charset="-120"/>
              </a:rPr>
              <a:t>Parity clients guarantee full data coverage even when stragglers miss deadlines — no accuracy penalty</a:t>
            </a:r>
            <a:endParaRPr lang="en-US" sz="1150" dirty="0"/>
          </a:p>
        </p:txBody>
      </p:sp>
      <p:sp>
        <p:nvSpPr>
          <p:cNvPr id="9" name="Shape 7"/>
          <p:cNvSpPr/>
          <p:nvPr/>
        </p:nvSpPr>
        <p:spPr>
          <a:xfrm>
            <a:off x="384048" y="1773936"/>
            <a:ext cx="438912" cy="438912"/>
          </a:xfrm>
          <a:prstGeom prst="ellipse">
            <a:avLst/>
          </a:prstGeom>
          <a:solidFill>
            <a:srgbClr val="2E7D32"/>
          </a:solidFill>
          <a:ln/>
        </p:spPr>
      </p:sp>
      <p:sp>
        <p:nvSpPr>
          <p:cNvPr id="10" name="Text 8"/>
          <p:cNvSpPr/>
          <p:nvPr/>
        </p:nvSpPr>
        <p:spPr>
          <a:xfrm>
            <a:off x="384048" y="1773936"/>
            <a:ext cx="438912" cy="438912"/>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1" name="Text 9"/>
          <p:cNvSpPr/>
          <p:nvPr/>
        </p:nvSpPr>
        <p:spPr>
          <a:xfrm>
            <a:off x="960120" y="1719072"/>
            <a:ext cx="7772400" cy="274320"/>
          </a:xfrm>
          <a:prstGeom prst="rect">
            <a:avLst/>
          </a:prstGeom>
          <a:noFill/>
          <a:ln/>
        </p:spPr>
        <p:txBody>
          <a:bodyPr wrap="square"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Zero extra communication cost</a:t>
            </a:r>
            <a:endParaRPr lang="en-US" sz="1350" dirty="0"/>
          </a:p>
        </p:txBody>
      </p:sp>
      <p:sp>
        <p:nvSpPr>
          <p:cNvPr id="12" name="Text 10"/>
          <p:cNvSpPr/>
          <p:nvPr/>
        </p:nvSpPr>
        <p:spPr>
          <a:xfrm>
            <a:off x="960120" y="2011680"/>
            <a:ext cx="7772400" cy="274320"/>
          </a:xfrm>
          <a:prstGeom prst="rect">
            <a:avLst/>
          </a:prstGeom>
          <a:noFill/>
          <a:ln/>
        </p:spPr>
        <p:txBody>
          <a:bodyPr wrap="square" rtlCol="0" anchor="ctr"/>
          <a:lstStyle/>
          <a:p>
            <a:pPr marL="0" indent="0">
              <a:buNone/>
            </a:pPr>
            <a:r>
              <a:rPr lang="en-US" sz="1150" dirty="0">
                <a:solidFill>
                  <a:srgbClr val="B0BEC5"/>
                </a:solidFill>
                <a:latin typeface="Calibri" pitchFamily="34" charset="0"/>
                <a:ea typeface="Calibri" pitchFamily="34" charset="-122"/>
                <a:cs typeface="Calibri" pitchFamily="34" charset="-120"/>
              </a:rPr>
              <a:t>Parity clients transmit ONE averaged update — same bandwidth as any standard FedAvg client</a:t>
            </a:r>
            <a:endParaRPr lang="en-US" sz="1150" dirty="0"/>
          </a:p>
        </p:txBody>
      </p:sp>
      <p:sp>
        <p:nvSpPr>
          <p:cNvPr id="13" name="Shape 11"/>
          <p:cNvSpPr/>
          <p:nvPr/>
        </p:nvSpPr>
        <p:spPr>
          <a:xfrm>
            <a:off x="384048" y="2432304"/>
            <a:ext cx="438912" cy="438912"/>
          </a:xfrm>
          <a:prstGeom prst="ellipse">
            <a:avLst/>
          </a:prstGeom>
          <a:solidFill>
            <a:srgbClr val="1565C0"/>
          </a:solidFill>
          <a:ln/>
        </p:spPr>
      </p:sp>
      <p:sp>
        <p:nvSpPr>
          <p:cNvPr id="14" name="Text 12"/>
          <p:cNvSpPr/>
          <p:nvPr/>
        </p:nvSpPr>
        <p:spPr>
          <a:xfrm>
            <a:off x="384048" y="2432304"/>
            <a:ext cx="438912" cy="438912"/>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5" name="Text 13"/>
          <p:cNvSpPr/>
          <p:nvPr/>
        </p:nvSpPr>
        <p:spPr>
          <a:xfrm>
            <a:off x="960120" y="2377440"/>
            <a:ext cx="7772400" cy="274320"/>
          </a:xfrm>
          <a:prstGeom prst="rect">
            <a:avLst/>
          </a:prstGeom>
          <a:noFill/>
          <a:ln/>
        </p:spPr>
        <p:txBody>
          <a:bodyPr wrap="square"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Drop-in compatible — no server changes</a:t>
            </a:r>
            <a:endParaRPr lang="en-US" sz="1350" dirty="0"/>
          </a:p>
        </p:txBody>
      </p:sp>
      <p:sp>
        <p:nvSpPr>
          <p:cNvPr id="16" name="Text 14"/>
          <p:cNvSpPr/>
          <p:nvPr/>
        </p:nvSpPr>
        <p:spPr>
          <a:xfrm>
            <a:off x="960120" y="2670048"/>
            <a:ext cx="7772400" cy="274320"/>
          </a:xfrm>
          <a:prstGeom prst="rect">
            <a:avLst/>
          </a:prstGeom>
          <a:noFill/>
          <a:ln/>
        </p:spPr>
        <p:txBody>
          <a:bodyPr wrap="square" rtlCol="0" anchor="ctr"/>
          <a:lstStyle/>
          <a:p>
            <a:pPr marL="0" indent="0">
              <a:buNone/>
            </a:pPr>
            <a:r>
              <a:rPr lang="en-US" sz="1150" dirty="0">
                <a:solidFill>
                  <a:srgbClr val="B0BEC5"/>
                </a:solidFill>
                <a:latin typeface="Calibri" pitchFamily="34" charset="0"/>
                <a:ea typeface="Calibri" pitchFamily="34" charset="-122"/>
                <a:cs typeface="Calibri" pitchFamily="34" charset="-120"/>
              </a:rPr>
              <a:t>Standard FedAvg aggregation with adjusted weights. Plugs into any existing FL system</a:t>
            </a:r>
            <a:endParaRPr lang="en-US" sz="1150" dirty="0"/>
          </a:p>
        </p:txBody>
      </p:sp>
      <p:sp>
        <p:nvSpPr>
          <p:cNvPr id="17" name="Shape 15"/>
          <p:cNvSpPr/>
          <p:nvPr/>
        </p:nvSpPr>
        <p:spPr>
          <a:xfrm>
            <a:off x="384048" y="3090672"/>
            <a:ext cx="438912" cy="438912"/>
          </a:xfrm>
          <a:prstGeom prst="ellipse">
            <a:avLst/>
          </a:prstGeom>
          <a:solidFill>
            <a:srgbClr val="E65100"/>
          </a:solidFill>
          <a:ln/>
        </p:spPr>
      </p:sp>
      <p:sp>
        <p:nvSpPr>
          <p:cNvPr id="18" name="Text 16"/>
          <p:cNvSpPr/>
          <p:nvPr/>
        </p:nvSpPr>
        <p:spPr>
          <a:xfrm>
            <a:off x="384048" y="3090672"/>
            <a:ext cx="438912" cy="438912"/>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9" name="Text 17"/>
          <p:cNvSpPr/>
          <p:nvPr/>
        </p:nvSpPr>
        <p:spPr>
          <a:xfrm>
            <a:off x="960120" y="3035808"/>
            <a:ext cx="7772400" cy="274320"/>
          </a:xfrm>
          <a:prstGeom prst="rect">
            <a:avLst/>
          </a:prstGeom>
          <a:noFill/>
          <a:ln/>
        </p:spPr>
        <p:txBody>
          <a:bodyPr wrap="square"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Straggler delay dominates (50.3%) — compute is negligible</a:t>
            </a:r>
            <a:endParaRPr lang="en-US" sz="1350" dirty="0"/>
          </a:p>
        </p:txBody>
      </p:sp>
      <p:sp>
        <p:nvSpPr>
          <p:cNvPr id="20" name="Text 18"/>
          <p:cNvSpPr/>
          <p:nvPr/>
        </p:nvSpPr>
        <p:spPr>
          <a:xfrm>
            <a:off x="960120" y="3328416"/>
            <a:ext cx="7772400" cy="274320"/>
          </a:xfrm>
          <a:prstGeom prst="rect">
            <a:avLst/>
          </a:prstGeom>
          <a:noFill/>
          <a:ln/>
        </p:spPr>
        <p:txBody>
          <a:bodyPr wrap="square" rtlCol="0" anchor="ctr"/>
          <a:lstStyle/>
          <a:p>
            <a:pPr marL="0" indent="0">
              <a:buNone/>
            </a:pPr>
            <a:r>
              <a:rPr lang="en-US" sz="1150" dirty="0">
                <a:solidFill>
                  <a:srgbClr val="B0BEC5"/>
                </a:solidFill>
                <a:latin typeface="Calibri" pitchFamily="34" charset="0"/>
                <a:ea typeface="Calibri" pitchFamily="34" charset="-122"/>
                <a:cs typeface="Calibri" pitchFamily="34" charset="-120"/>
              </a:rPr>
              <a:t>Forward + backward pass = only 9%. The bottleneck is waiting, not computing</a:t>
            </a:r>
            <a:endParaRPr lang="en-US" sz="1150" dirty="0"/>
          </a:p>
        </p:txBody>
      </p:sp>
      <p:sp>
        <p:nvSpPr>
          <p:cNvPr id="21" name="Shape 19"/>
          <p:cNvSpPr/>
          <p:nvPr/>
        </p:nvSpPr>
        <p:spPr>
          <a:xfrm>
            <a:off x="384048" y="3749040"/>
            <a:ext cx="438912" cy="438912"/>
          </a:xfrm>
          <a:prstGeom prst="ellipse">
            <a:avLst/>
          </a:prstGeom>
          <a:solidFill>
            <a:srgbClr val="00796B"/>
          </a:solidFill>
          <a:ln/>
        </p:spPr>
      </p:sp>
      <p:sp>
        <p:nvSpPr>
          <p:cNvPr id="22" name="Text 20"/>
          <p:cNvSpPr/>
          <p:nvPr/>
        </p:nvSpPr>
        <p:spPr>
          <a:xfrm>
            <a:off x="384048" y="3749040"/>
            <a:ext cx="438912" cy="438912"/>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23" name="Text 21"/>
          <p:cNvSpPr/>
          <p:nvPr/>
        </p:nvSpPr>
        <p:spPr>
          <a:xfrm>
            <a:off x="960120" y="3694176"/>
            <a:ext cx="7772400" cy="274320"/>
          </a:xfrm>
          <a:prstGeom prst="rect">
            <a:avLst/>
          </a:prstGeom>
          <a:noFill/>
          <a:ln/>
        </p:spPr>
        <p:txBody>
          <a:bodyPr wrap="square"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10-node: 47.7% vs 49.8% baseline — within 2.1pp of optimal</a:t>
            </a:r>
            <a:endParaRPr lang="en-US" sz="1350" dirty="0"/>
          </a:p>
        </p:txBody>
      </p:sp>
      <p:sp>
        <p:nvSpPr>
          <p:cNvPr id="24" name="Text 22"/>
          <p:cNvSpPr/>
          <p:nvPr/>
        </p:nvSpPr>
        <p:spPr>
          <a:xfrm>
            <a:off x="960120" y="3986784"/>
            <a:ext cx="7772400" cy="274320"/>
          </a:xfrm>
          <a:prstGeom prst="rect">
            <a:avLst/>
          </a:prstGeom>
          <a:noFill/>
          <a:ln/>
        </p:spPr>
        <p:txBody>
          <a:bodyPr wrap="square" rtlCol="0" anchor="ctr"/>
          <a:lstStyle/>
          <a:p>
            <a:pPr marL="0" indent="0">
              <a:buNone/>
            </a:pPr>
            <a:r>
              <a:rPr lang="en-US" sz="1150" dirty="0">
                <a:solidFill>
                  <a:srgbClr val="B0BEC5"/>
                </a:solidFill>
                <a:latin typeface="Calibri" pitchFamily="34" charset="0"/>
                <a:ea typeface="Calibri" pitchFamily="34" charset="-122"/>
                <a:cs typeface="Calibri" pitchFamily="34" charset="-120"/>
              </a:rPr>
              <a:t>Near-optimal accuracy while tolerating up to 3 simultaneous stragglers with zero data loss</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5486400" y="-1371600"/>
            <a:ext cx="5486400" cy="5486400"/>
          </a:xfrm>
          <a:prstGeom prst="ellipse">
            <a:avLst/>
          </a:prstGeom>
          <a:solidFill>
            <a:srgbClr val="1A3A5C"/>
          </a:solidFill>
          <a:ln w="12700">
            <a:solidFill>
              <a:srgbClr val="1A3A5C"/>
            </a:solidFill>
            <a:prstDash val="solid"/>
          </a:ln>
        </p:spPr>
      </p:sp>
      <p:sp>
        <p:nvSpPr>
          <p:cNvPr id="3" name="Shape 1"/>
          <p:cNvSpPr/>
          <p:nvPr/>
        </p:nvSpPr>
        <p:spPr>
          <a:xfrm>
            <a:off x="0" y="4434840"/>
            <a:ext cx="9144000" cy="708660"/>
          </a:xfrm>
          <a:prstGeom prst="rect">
            <a:avLst/>
          </a:prstGeom>
          <a:solidFill>
            <a:srgbClr val="1565C0"/>
          </a:solidFill>
          <a:ln/>
        </p:spPr>
      </p:sp>
      <p:sp>
        <p:nvSpPr>
          <p:cNvPr id="4" name="Text 2"/>
          <p:cNvSpPr/>
          <p:nvPr/>
        </p:nvSpPr>
        <p:spPr>
          <a:xfrm>
            <a:off x="457200" y="548640"/>
            <a:ext cx="6858000" cy="1188720"/>
          </a:xfrm>
          <a:prstGeom prst="rect">
            <a:avLst/>
          </a:prstGeom>
          <a:noFill/>
          <a:ln/>
        </p:spPr>
        <p:txBody>
          <a:bodyPr wrap="square" rtlCol="0" anchor="ctr"/>
          <a:lstStyle/>
          <a:p>
            <a:pPr marL="0" indent="0" algn="l">
              <a:buNone/>
            </a:pPr>
            <a:r>
              <a:rPr lang="en-US" sz="5800" b="1" dirty="0">
                <a:solidFill>
                  <a:srgbClr val="FFFFFF"/>
                </a:solidFill>
                <a:latin typeface="Calibri" pitchFamily="34" charset="0"/>
                <a:ea typeface="Calibri" pitchFamily="34" charset="-122"/>
                <a:cs typeface="Calibri" pitchFamily="34" charset="-120"/>
              </a:rPr>
              <a:t>Thank You</a:t>
            </a:r>
            <a:endParaRPr lang="en-US" sz="5800" dirty="0"/>
          </a:p>
        </p:txBody>
      </p:sp>
      <p:sp>
        <p:nvSpPr>
          <p:cNvPr id="5" name="Text 3"/>
          <p:cNvSpPr/>
          <p:nvPr/>
        </p:nvSpPr>
        <p:spPr>
          <a:xfrm>
            <a:off x="457200" y="1828800"/>
            <a:ext cx="6400800" cy="594360"/>
          </a:xfrm>
          <a:prstGeom prst="rect">
            <a:avLst/>
          </a:prstGeom>
          <a:noFill/>
          <a:ln/>
        </p:spPr>
        <p:txBody>
          <a:bodyPr wrap="square" rtlCol="0" anchor="ctr"/>
          <a:lstStyle/>
          <a:p>
            <a:pPr marL="0" indent="0" algn="l">
              <a:buNone/>
            </a:pPr>
            <a:r>
              <a:rPr lang="en-US" sz="2400" i="1" dirty="0">
                <a:solidFill>
                  <a:srgbClr val="A8D8EA"/>
                </a:solidFill>
                <a:latin typeface="Calibri" pitchFamily="34" charset="0"/>
                <a:ea typeface="Calibri" pitchFamily="34" charset="-122"/>
                <a:cs typeface="Calibri" pitchFamily="34" charset="-120"/>
              </a:rPr>
              <a:t>Questions &amp; Discussion</a:t>
            </a:r>
            <a:endParaRPr lang="en-US" sz="2400" dirty="0"/>
          </a:p>
        </p:txBody>
      </p:sp>
      <p:sp>
        <p:nvSpPr>
          <p:cNvPr id="6" name="Shape 4"/>
          <p:cNvSpPr/>
          <p:nvPr/>
        </p:nvSpPr>
        <p:spPr>
          <a:xfrm>
            <a:off x="457200" y="2514600"/>
            <a:ext cx="5029200" cy="0"/>
          </a:xfrm>
          <a:prstGeom prst="line">
            <a:avLst/>
          </a:prstGeom>
          <a:noFill/>
          <a:ln w="25400">
            <a:solidFill>
              <a:srgbClr val="1565C0"/>
            </a:solidFill>
            <a:prstDash val="solid"/>
          </a:ln>
        </p:spPr>
      </p:sp>
      <p:sp>
        <p:nvSpPr>
          <p:cNvPr id="7" name="Text 5"/>
          <p:cNvSpPr/>
          <p:nvPr/>
        </p:nvSpPr>
        <p:spPr>
          <a:xfrm>
            <a:off x="457200" y="2651760"/>
            <a:ext cx="6858000" cy="777240"/>
          </a:xfrm>
          <a:prstGeom prst="rect">
            <a:avLst/>
          </a:prstGeom>
          <a:noFill/>
          <a:ln/>
        </p:spPr>
        <p:txBody>
          <a:bodyPr wrap="square" rtlCol="0" anchor="ctr"/>
          <a:lstStyle/>
          <a:p>
            <a:pPr marL="0" indent="0">
              <a:buNone/>
            </a:pPr>
            <a:r>
              <a:rPr lang="en-US" sz="1450" i="1" dirty="0">
                <a:solidFill>
                  <a:srgbClr val="78909C"/>
                </a:solidFill>
                <a:latin typeface="Calibri" pitchFamily="34" charset="0"/>
                <a:ea typeface="Calibri" pitchFamily="34" charset="-122"/>
                <a:cs typeface="Calibri" pitchFamily="34" charset="-120"/>
              </a:rPr>
              <a:t>No Straggler Left Behind:</a:t>
            </a:r>
            <a:endParaRPr lang="en-US" sz="1450" dirty="0"/>
          </a:p>
          <a:p>
            <a:pPr marL="0" indent="0">
              <a:buNone/>
            </a:pPr>
            <a:r>
              <a:rPr lang="en-US" sz="1450" i="1" dirty="0">
                <a:solidFill>
                  <a:srgbClr val="78909C"/>
                </a:solidFill>
                <a:latin typeface="Calibri" pitchFamily="34" charset="0"/>
                <a:ea typeface="Calibri" pitchFamily="34" charset="-122"/>
                <a:cs typeface="Calibri" pitchFamily="34" charset="-120"/>
              </a:rPr>
              <a:t>Erasure Coding for Fault-Tolerant Federated Learning</a:t>
            </a:r>
            <a:endParaRPr lang="en-US" sz="1450" dirty="0"/>
          </a:p>
        </p:txBody>
      </p:sp>
      <p:sp>
        <p:nvSpPr>
          <p:cNvPr id="8" name="Text 6"/>
          <p:cNvSpPr/>
          <p:nvPr/>
        </p:nvSpPr>
        <p:spPr>
          <a:xfrm>
            <a:off x="457200" y="3520440"/>
            <a:ext cx="6858000" cy="685800"/>
          </a:xfrm>
          <a:prstGeom prst="rect">
            <a:avLst/>
          </a:prstGeom>
          <a:noFill/>
          <a:ln/>
        </p:spPr>
        <p:txBody>
          <a:bodyPr wrap="square" rtlCol="0" anchor="ctr"/>
          <a:lstStyle/>
          <a:p>
            <a:pPr marL="0" indent="0">
              <a:buNone/>
            </a:pPr>
            <a:r>
              <a:rPr lang="en-US" sz="1300" dirty="0">
                <a:solidFill>
                  <a:srgbClr val="90A4AE"/>
                </a:solidFill>
                <a:latin typeface="Calibri" pitchFamily="34" charset="0"/>
                <a:ea typeface="Calibri" pitchFamily="34" charset="-122"/>
                <a:cs typeface="Calibri" pitchFamily="34" charset="-120"/>
              </a:rPr>
              <a:t>Md Khairul Azman  ·  Mahfujur Rahman  ·  Tanzima Islam</a:t>
            </a:r>
            <a:endParaRPr lang="en-US" sz="1300" dirty="0"/>
          </a:p>
          <a:p>
            <a:pPr marL="0" indent="0">
              <a:buNone/>
            </a:pPr>
            <a:r>
              <a:rPr lang="en-US" sz="1300" dirty="0">
                <a:solidFill>
                  <a:srgbClr val="90A4AE"/>
                </a:solidFill>
                <a:latin typeface="Calibri" pitchFamily="34" charset="0"/>
                <a:ea typeface="Calibri" pitchFamily="34" charset="-122"/>
                <a:cs typeface="Calibri" pitchFamily="34" charset="-120"/>
              </a:rPr>
              <a:t>Department of Computer Science  ·  Texas State University</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TotalTime>
  <Words>2043</Words>
  <Application>Microsoft Office PowerPoint</Application>
  <PresentationFormat>On-screen Show (16:9)</PresentationFormat>
  <Paragraphs>259</Paragraphs>
  <Slides>16</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 Straggler Left Behind</dc:title>
  <dc:subject>PptxGenJS Presentation</dc:subject>
  <dc:creator>PptxGenJS</dc:creator>
  <cp:lastModifiedBy>Mahfujur Araf</cp:lastModifiedBy>
  <cp:revision>10</cp:revision>
  <dcterms:created xsi:type="dcterms:W3CDTF">2026-05-04T04:36:05Z</dcterms:created>
  <dcterms:modified xsi:type="dcterms:W3CDTF">2026-05-06T08:00:35Z</dcterms:modified>
</cp:coreProperties>
</file>